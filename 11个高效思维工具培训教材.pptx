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0"/>
            <a:ext cx="9144000" cy="1943100"/>
          </a:xfrm>
          <a:prstGeom prst="rect">
            <a:avLst/>
          </a:prstGeom>
          <a:solidFill>
            <a:srgbClr val="21295C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0"/>
            <a:ext cx="1828800" cy="5143500"/>
          </a:xfrm>
          <a:prstGeom prst="rect">
            <a:avLst/>
          </a:prstGeom>
          <a:solidFill>
            <a:srgbClr val="1C7293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11个高效思维工具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培训教材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828800" y="2560320"/>
            <a:ext cx="548640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SCQA · DESC · CAR · 黄金三点法 · 结论先行法 · 剥洋葱法 · 利益分析法 · 331法则 · 旁观者视角三步法 · 5年倒推法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培训内容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20040" cy="3200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1097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SCQA分析法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0" y="10972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情境-冲突-问题-答案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444752"/>
            <a:ext cx="320040" cy="3200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4447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1444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DESC沟通法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0" y="14447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描述-表达-指定-结果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1792224"/>
            <a:ext cx="320040" cy="3200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7922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179222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CAR模型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0" y="179222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情境-行动-结果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139696"/>
            <a:ext cx="320040" cy="3200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1396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4400" y="213969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黄金三点法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14800" y="213969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结构化表达技巧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487168"/>
            <a:ext cx="320040" cy="3200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4871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4400" y="24871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结论先行法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114800" y="248716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金字塔原理核心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2834640"/>
            <a:ext cx="320040" cy="3200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2834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14400" y="2834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剥洋葱法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114800" y="28346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层层递进深度分析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182112"/>
            <a:ext cx="320040" cy="3200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1821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07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14400" y="31821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利益分析法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114800" y="318211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利益相关者分析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3529584"/>
            <a:ext cx="320040" cy="3200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35295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08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14400" y="35295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331法则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114800" y="352958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高效沟通与决策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3877056"/>
            <a:ext cx="320040" cy="3200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38770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09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14400" y="387705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旁观者视角三步法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114800" y="387705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第三方客观分析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" y="4224528"/>
            <a:ext cx="320040" cy="3200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42245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14400" y="42245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5年倒推法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114800" y="422452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长期规划与逆向思维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7200" y="4572000"/>
            <a:ext cx="320040" cy="3200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" y="4572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11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914400" y="4572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综合实战演练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114800" y="45720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工具组合应用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SCQA分析法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Situation-Complication-Question-Answer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920240" cy="1645920"/>
          </a:xfrm>
          <a:prstGeom prst="rect">
            <a:avLst/>
          </a:prstGeom>
          <a:solidFill>
            <a:srgbClr val="3B82F6">
              <a:alpha val="15000"/>
            </a:srgbClr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Situation（情境）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描述当前背景和现状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51760" y="1097280"/>
            <a:ext cx="1920240" cy="1645920"/>
          </a:xfrm>
          <a:prstGeom prst="rect">
            <a:avLst/>
          </a:prstGeom>
          <a:solidFill>
            <a:srgbClr val="EF4444">
              <a:alpha val="15000"/>
            </a:srgbClr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743200" y="1737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Complication（冲突）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0" y="2148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指出存在的问题或挑战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1097280"/>
            <a:ext cx="1920240" cy="1645920"/>
          </a:xfrm>
          <a:prstGeom prst="rect">
            <a:avLst/>
          </a:prstGeom>
          <a:solidFill>
            <a:srgbClr val="F59E0B">
              <a:alpha val="15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937760" y="1737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Question（问题）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148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提出核心问题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040880" y="1097280"/>
            <a:ext cx="1920240" cy="1645920"/>
          </a:xfrm>
          <a:prstGeom prst="rect">
            <a:avLst/>
          </a:prstGeom>
          <a:solidFill>
            <a:srgbClr val="10B981">
              <a:alpha val="1500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7132320" y="1737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Answer（答案）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32320" y="2148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给出解决方案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应用示例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383280"/>
            <a:ext cx="8229600" cy="1371600"/>
          </a:xfrm>
          <a:prstGeom prst="rect">
            <a:avLst/>
          </a:prstGeom>
          <a:solidFill>
            <a:srgbClr val="CADCFC">
              <a:alpha val="4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47472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【S】我们的产品目前在市场上占有20%份额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379476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【C】但竞争对手推出了类似产品，份额在下降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411480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【Q】我们如何挽回市场份额？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443484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【A】推出升级版产品+营销策略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DESC沟通法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Describe-Express-Specify-Consequence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solidFill>
            <a:srgbClr val="FFFFFF"/>
          </a:solidFill>
          <a:ln w="381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3444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1188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Describe（描述）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5087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客观描述行为或事实，不评价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0" y="1234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我注意到你这周迟到了3次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solidFill>
            <a:srgbClr val="FFFFFF"/>
          </a:solidFill>
          <a:ln w="38100">
            <a:solidFill>
              <a:srgbClr val="8B5C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14884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80160" y="2103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Express（表达）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24231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表达你的感受或看法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0" y="2148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这让我担心项目进度会受影响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solidFill>
            <a:srgbClr val="FFFFFF"/>
          </a:solidFill>
          <a:ln w="381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06324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280160" y="3017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Specify（指定）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80160" y="3337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明确指出期望的行为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0" y="3063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希望你明天开始能准时到岗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solidFill>
            <a:srgbClr val="FFFFFF"/>
          </a:solidFill>
          <a:ln w="38100">
            <a:solidFill>
              <a:srgbClr val="10B98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397764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280160" y="3931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Consequence（结果）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80160" y="4251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说明正面或负面结果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0" y="3977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这样我们能按时完成项目，你也能获得好评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CAR模型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Context-Action-Result（行为面试法）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560320" cy="2286000"/>
          </a:xfrm>
          <a:prstGeom prst="rect">
            <a:avLst/>
          </a:prstGeom>
          <a:solidFill>
            <a:srgbClr val="3B82F6">
              <a:alpha val="10000"/>
            </a:srgbClr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280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Context（情境）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当时的背景和面临的挑战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说明时间、地点、任务、困难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1097280"/>
            <a:ext cx="2560320" cy="2286000"/>
          </a:xfrm>
          <a:prstGeom prst="rect">
            <a:avLst/>
          </a:prstGeom>
          <a:solidFill>
            <a:srgbClr val="F59E0B">
              <a:alpha val="10000"/>
            </a:srgbClr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66160" y="1280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356616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Action（行动）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66160" y="2514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你采取的具体行动和方法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66160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重点！用"我"而不是"我们"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09360" y="1097280"/>
            <a:ext cx="2560320" cy="2286000"/>
          </a:xfrm>
          <a:prstGeom prst="rect">
            <a:avLst/>
          </a:prstGeom>
          <a:solidFill>
            <a:srgbClr val="10B981">
              <a:alpha val="10000"/>
            </a:srgbClr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92240" y="1280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649224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Result（结果）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92240" y="2514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取得的成果和可量化数据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0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用数字说话，说明影响力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使用技巧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4023360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用于面试回答：准备3-5个CAR故事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4251960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用于工作汇报：突出你的行动和成果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4480560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用于项目复盘：客观分析成功与失败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黄金三点法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结构化表达的核心技巧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solidFill>
            <a:srgbClr val="065A82">
              <a:alpha val="9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05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核心原理：人脑短期记忆最多记住3-5个点，三点结构最易理解和记忆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第一点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554480" y="2194560"/>
            <a:ext cx="4572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03120" y="1828800"/>
            <a:ext cx="6400800" cy="731520"/>
          </a:xfrm>
          <a:prstGeom prst="rect">
            <a:avLst/>
          </a:prstGeom>
          <a:solidFill>
            <a:srgbClr val="3B82F6">
              <a:alpha val="15000"/>
            </a:srgbClr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提出核心观点或论据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286000" y="2240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（是什么（What））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834640"/>
            <a:ext cx="731520" cy="7315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834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第二点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554480" y="3200400"/>
            <a:ext cx="4572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03120" y="2834640"/>
            <a:ext cx="6400800" cy="731520"/>
          </a:xfrm>
          <a:prstGeom prst="rect">
            <a:avLst/>
          </a:prstGeom>
          <a:solidFill>
            <a:srgbClr val="F59E0B">
              <a:alpha val="15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0" y="2926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展开说明或举例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286000" y="32461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（为什么（Why））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840480"/>
            <a:ext cx="731520" cy="7315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840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第三点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554480" y="4206240"/>
            <a:ext cx="45720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03120" y="3840480"/>
            <a:ext cx="6400800" cy="731520"/>
          </a:xfrm>
          <a:prstGeom prst="rect">
            <a:avLst/>
          </a:prstGeom>
          <a:solidFill>
            <a:srgbClr val="10B981">
              <a:alpha val="1500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0" y="3931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总结或行动建议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286000" y="4251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（怎么做（How））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结论先行法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金字塔原理的核心原则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金字塔原理：先说结论，再说论据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828800" y="1645920"/>
            <a:ext cx="5486400" cy="457200"/>
          </a:xfrm>
          <a:prstGeom prst="rect">
            <a:avLst/>
          </a:prstGeom>
          <a:solidFill>
            <a:srgbClr val="065A82">
              <a:alpha val="30000"/>
            </a:srgbClr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1645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结论/核心观点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14600" y="2286000"/>
            <a:ext cx="4114800" cy="457200"/>
          </a:xfrm>
          <a:prstGeom prst="rect">
            <a:avLst/>
          </a:prstGeom>
          <a:solidFill>
            <a:srgbClr val="1C7293">
              <a:alpha val="30000"/>
            </a:srgbClr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2286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主要论据1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0" y="2926080"/>
            <a:ext cx="2743200" cy="457200"/>
          </a:xfrm>
          <a:prstGeom prst="rect">
            <a:avLst/>
          </a:prstGeom>
          <a:solidFill>
            <a:srgbClr val="F59E0B">
              <a:alpha val="30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2926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论据2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0" y="3566160"/>
            <a:ext cx="2743200" cy="457200"/>
          </a:xfrm>
          <a:prstGeom prst="rect">
            <a:avLst/>
          </a:prstGeom>
          <a:solidFill>
            <a:srgbClr val="10B981">
              <a:alpha val="3000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3566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论据3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📌 应用场景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工作汇报：先说结果，再讲过程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4617720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邮件沟通：主题行直接写明结论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4800600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会议发言：开头用一句话概括观点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剥洋葱法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层层递进深度分析法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从表面现象深入到根本原因，像剥洋葱一样一层层分析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749040" y="1645920"/>
            <a:ext cx="1645920" cy="1645920"/>
          </a:xfrm>
          <a:prstGeom prst="ellipse">
            <a:avLst/>
          </a:prstGeom>
          <a:solidFill>
            <a:srgbClr val="FEE2E2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0" y="1828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3200400" cy="457200"/>
          </a:xfrm>
          <a:prstGeom prst="rect">
            <a:avLst/>
          </a:prstGeom>
          <a:solidFill>
            <a:srgbClr val="FEE2E2">
              <a:alpha val="3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9659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表面现象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14884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看到的问题表象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86200" y="2468880"/>
            <a:ext cx="1371600" cy="1371600"/>
          </a:xfrm>
          <a:prstGeom prst="ellipse">
            <a:avLst/>
          </a:prstGeom>
          <a:solidFill>
            <a:srgbClr val="FED7AA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77640" y="26517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3200400" cy="457200"/>
          </a:xfrm>
          <a:prstGeom prst="rect">
            <a:avLst/>
          </a:prstGeom>
          <a:solidFill>
            <a:srgbClr val="FED7AA">
              <a:alpha val="3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7889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直接原因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297180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导致现象的直接因素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023360" y="3291840"/>
            <a:ext cx="1097280" cy="1097280"/>
          </a:xfrm>
          <a:prstGeom prst="ellipse">
            <a:avLst/>
          </a:prstGeom>
          <a:solidFill>
            <a:srgbClr val="FCA5D4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0" y="3474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566160"/>
            <a:ext cx="3200400" cy="457200"/>
          </a:xfrm>
          <a:prstGeom prst="rect">
            <a:avLst/>
          </a:prstGeom>
          <a:solidFill>
            <a:srgbClr val="FCA5D4">
              <a:alpha val="3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6118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根本原因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379476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问题的根源所在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60520" y="4114800"/>
            <a:ext cx="822960" cy="822960"/>
          </a:xfrm>
          <a:prstGeom prst="ellipse">
            <a:avLst/>
          </a:prstGeom>
          <a:solidFill>
            <a:srgbClr val="C4B5FD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51960" y="4297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第4层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389120"/>
            <a:ext cx="3200400" cy="457200"/>
          </a:xfrm>
          <a:prstGeom prst="rect">
            <a:avLst/>
          </a:prstGeom>
          <a:solidFill>
            <a:srgbClr val="C4B5FD">
              <a:alpha val="3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4348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系统因素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461772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制度、文化、结构问题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利益分析法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Stakeholder Benefit Analysis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识别所有利益相关者，分析他们的诉求和影响力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2560320" cy="914400"/>
          </a:xfrm>
          <a:prstGeom prst="rect">
            <a:avLst/>
          </a:prstGeom>
          <a:solidFill>
            <a:srgbClr val="EF4444">
              <a:alpha val="15000"/>
            </a:srgbClr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37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高层领导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权力：高  |  利益：高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📍 重点管理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1645920"/>
            <a:ext cx="2560320" cy="914400"/>
          </a:xfrm>
          <a:prstGeom prst="rect">
            <a:avLst/>
          </a:prstGeom>
          <a:solidFill>
            <a:srgbClr val="F59E0B">
              <a:alpha val="15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1737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直接用户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66160" y="20574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权力：中  |  利益：高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66160" y="22860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📍 保持满意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09360" y="1645920"/>
            <a:ext cx="2560320" cy="914400"/>
          </a:xfrm>
          <a:prstGeom prst="rect">
            <a:avLst/>
          </a:prstGeom>
          <a:solidFill>
            <a:srgbClr val="1C7293">
              <a:alpha val="15000"/>
            </a:srgbClr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1737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项目团队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92240" y="20574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权力：中  |  利益：高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92240" y="22860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📍 保持告知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2560320" cy="914400"/>
          </a:xfrm>
          <a:prstGeom prst="rect">
            <a:avLst/>
          </a:prstGeom>
          <a:solidFill>
            <a:srgbClr val="10B981">
              <a:alpha val="1500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926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支持部门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32461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权力：低  |  利益：中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34747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📍 监督关注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83280" y="2834640"/>
            <a:ext cx="2560320" cy="914400"/>
          </a:xfrm>
          <a:prstGeom prst="rect">
            <a:avLst/>
          </a:prstGeom>
          <a:solidFill>
            <a:srgbClr val="8B5CF6">
              <a:alpha val="15000"/>
            </a:srgbClr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0" y="2926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反对者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566160" y="32461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权力：中  |  利益：低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566160" y="34747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📍 争取转化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 331法则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高效沟通与决策法则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3分钟讲清楚，3个要点，1个行动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64592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3分钟原则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45920" y="20116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任何汇报/沟通控制在3分钟内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45920" y="22402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超时=不尊重对方时间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2743200"/>
            <a:ext cx="731520" cy="7315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645920" y="2788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3个要点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45920" y="310896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一次只说3个核心要点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45920" y="333756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超过3个=对方记不住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840480"/>
            <a:ext cx="731520" cy="7315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840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645920" y="3886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1个行动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45920" y="42062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每次沟通明确1个行动项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645920" y="44348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无行动=沟通无效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 旁观者视角三步法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第三方客观分析法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跳出当局者迷，用旁观者视角客观分析问题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463040" y="1645920"/>
            <a:ext cx="7223760" cy="914400"/>
          </a:xfrm>
          <a:prstGeom prst="rect">
            <a:avLst/>
          </a:prstGeom>
          <a:solidFill>
            <a:srgbClr val="3B82F6">
              <a:alpha val="15000"/>
            </a:srgbClr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17373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第一步：抽离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45920" y="205740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想象自己是完全无关的第三方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45920" y="228600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问：如果这是别人的问题，我会怎么看？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83464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463040" y="2743200"/>
            <a:ext cx="7223760" cy="914400"/>
          </a:xfrm>
          <a:prstGeom prst="rect">
            <a:avLst/>
          </a:prstGeom>
          <a:solidFill>
            <a:srgbClr val="F59E0B">
              <a:alpha val="15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45920" y="28346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第二步：观察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645920" y="315468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客观记录事实和各方行为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45920" y="338328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问：事实是什么？情绪是什么？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931920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1463040" y="3840480"/>
            <a:ext cx="7223760" cy="914400"/>
          </a:xfrm>
          <a:prstGeom prst="rect">
            <a:avLst/>
          </a:prstGeom>
          <a:solidFill>
            <a:srgbClr val="10B981">
              <a:alpha val="1500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45920" y="3931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第三步：建议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45920" y="425196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给出中立的建设性建议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645920" y="448056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问：作为旁观者，我会建议怎么做？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 5年倒推法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长期规划与逆向思维法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从5年后的终极目标倒推，制定长期规划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1371600" cy="365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45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5年后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11680" y="1645920"/>
            <a:ext cx="6675120" cy="365760"/>
          </a:xfrm>
          <a:prstGeom prst="rect">
            <a:avLst/>
          </a:prstGeom>
          <a:solidFill>
            <a:srgbClr val="065A82">
              <a:alpha val="1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0" y="164592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终极目标/愿景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143000" y="2011680"/>
            <a:ext cx="0" cy="18288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194560"/>
            <a:ext cx="1371600" cy="365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194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3年后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011680" y="2194560"/>
            <a:ext cx="6675120" cy="365760"/>
          </a:xfrm>
          <a:prstGeom prst="rect">
            <a:avLst/>
          </a:prstGeom>
          <a:solidFill>
            <a:srgbClr val="1C7293">
              <a:alpha val="1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94560" y="219456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关键里程碑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143000" y="2560320"/>
            <a:ext cx="0" cy="18288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743200"/>
            <a:ext cx="137160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743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1年后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011680" y="2743200"/>
            <a:ext cx="6675120" cy="365760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94560" y="274320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中期目标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143000" y="3108960"/>
            <a:ext cx="0" cy="18288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291840"/>
            <a:ext cx="137160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291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3个月后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011680" y="3291840"/>
            <a:ext cx="6675120" cy="365760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94560" y="329184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短期目标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143000" y="3657600"/>
            <a:ext cx="0" cy="18288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840480"/>
            <a:ext cx="1371600" cy="3657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840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011680" y="3840480"/>
            <a:ext cx="6675120" cy="365760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94560" y="384048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立即行动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 综合实战演练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工具组合应用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场景：向领导汇报一个项目延期问题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182880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45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结论先行法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77440" y="1645920"/>
            <a:ext cx="6400800" cy="457200"/>
          </a:xfrm>
          <a:prstGeom prst="rect">
            <a:avLst/>
          </a:prstGeom>
          <a:solidFill>
            <a:srgbClr val="065A82">
              <a:alpha val="1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16916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开头直接说：项目将延期2周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182880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SCQA法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377440" y="2286000"/>
            <a:ext cx="6400800" cy="457200"/>
          </a:xfrm>
          <a:prstGeom prst="rect">
            <a:avLst/>
          </a:prstGeom>
          <a:solidFill>
            <a:srgbClr val="1C7293">
              <a:alpha val="1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23317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S：项目原计划本月上线 → C：关键人员离职 → Q：如何补救？→ A：申请外包支持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182880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26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DESC法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377440" y="2926080"/>
            <a:ext cx="6400800" cy="457200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0" y="29718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D：当前进度落后20% → E：我担心无法按时交付 → S：建议增加2名开发人员 → C：可按时完成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566160"/>
            <a:ext cx="182880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566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黄金三点法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377440" y="3566160"/>
            <a:ext cx="6400800" cy="457200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0" y="36118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问题原因  2. 补救方案  3. 需要的支持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206240"/>
            <a:ext cx="1828800" cy="457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206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331法则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377440" y="4206240"/>
            <a:ext cx="6400800" cy="457200"/>
          </a:xfrm>
          <a:prstGeom prst="rect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0" y="42519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3分钟内讲完，3个要点，1个行动：批准外包预算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0"/>
            <a:ext cx="9144000" cy="3314700"/>
          </a:xfrm>
          <a:prstGeom prst="rect">
            <a:avLst/>
          </a:prstGeom>
          <a:solidFill>
            <a:srgbClr val="21295C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掌握11个思维工具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让思考更系统，表达更清晰，决策更精准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MIM行业质量管理体系 · 思维工具培训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11个高效思维工具培训教材</dc:title>
  <dc:subject>PptxGenJS Presentation</dc:subject>
  <dc:creator>MIM行业质量管理体系</dc:creator>
  <cp:lastModifiedBy>MIM行业质量管理体系</cp:lastModifiedBy>
  <cp:revision>1</cp:revision>
  <dcterms:created xsi:type="dcterms:W3CDTF">2026-05-07T04:57:11Z</dcterms:created>
  <dcterms:modified xsi:type="dcterms:W3CDTF">2026-05-07T04:57:11Z</dcterms:modified>
</cp:coreProperties>
</file>