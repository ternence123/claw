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274320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3200400"/>
            <a:ext cx="2286000" cy="2286000"/>
          </a:xfrm>
          <a:prstGeom prst="ellipse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65760"/>
            <a:ext cx="1097280" cy="1097280"/>
          </a:xfrm>
          <a:prstGeom prst="ellipse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731520"/>
            <a:ext cx="640080" cy="64008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ISO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0E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9001:2015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97680" y="914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质量管理体系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297680" y="1645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入门培训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29768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Management System Fundamentals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3017520"/>
            <a:ext cx="411480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3246120"/>
            <a:ext cx="804672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324612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PDCA循环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166360" y="3246120"/>
            <a:ext cx="804672" cy="38404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324612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七项原则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035040" y="3246120"/>
            <a:ext cx="804672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24612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风险思维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903720" y="3246120"/>
            <a:ext cx="804672" cy="38404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24612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组织环境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772400" y="3246120"/>
            <a:ext cx="804672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324612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9768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来源：质量管理培训资料   2026.04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600200"/>
            <a:ext cx="109728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3840480"/>
            <a:ext cx="731520" cy="7315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84048"/>
            <a:ext cx="6583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384048"/>
            <a:ext cx="658368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384048"/>
            <a:ext cx="640080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38404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54680" y="4754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什么是ISO 9001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54680" y="8046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ISO起源 · 发展历程 · 2015版重大变化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1161288"/>
            <a:ext cx="6583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1161288"/>
            <a:ext cx="658368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1161288"/>
            <a:ext cx="640080" cy="7132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116128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154680" y="125272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七项质量管理原则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54680" y="158191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以顾客为焦点 · 领导作用 · 全员参与 · 过程方法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1938528"/>
            <a:ext cx="6583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1938528"/>
            <a:ext cx="658368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1938528"/>
            <a:ext cx="640080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193852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154680" y="20299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PDCA循环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154680" y="235915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策划 · 实施 · 检查 · 处置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77440" y="2715768"/>
            <a:ext cx="6583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2715768"/>
            <a:ext cx="658368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77440" y="2715768"/>
            <a:ext cx="64008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271576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154680" y="280720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组织环境与风险思维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154680" y="313639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内外部环境 · 相关方需求 · 风险识别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493008"/>
            <a:ext cx="6583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493008"/>
            <a:ext cx="6583680" cy="640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77440" y="3493008"/>
            <a:ext cx="640080" cy="7132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0" y="349300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154680" y="358444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质量管理体系结构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154680" y="39136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高阶结构(HLS) · 十章框架解读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77440" y="4270248"/>
            <a:ext cx="6583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77440" y="4270248"/>
            <a:ext cx="6583680" cy="6400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0" y="4270248"/>
            <a:ext cx="640080" cy="71323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0" y="427024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3154680" y="43616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文件化要求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3154680" y="46908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必须文件 · 通常需要 · 文件管理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培训目标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594360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91440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理解ISO 9001:2015的基本概念和核心要求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594360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19072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1719072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掌握七项质量管理原则的内涵与应用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23744"/>
            <a:ext cx="594360" cy="7132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23744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52374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了解PDCA循环在质量管理中的具体应用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28416"/>
            <a:ext cx="594360" cy="7132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28416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328416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认识组织环境和风险思维的重要性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33088"/>
            <a:ext cx="59436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33088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4133088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能够在实际工作中运用质量管理理念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926080"/>
            <a:ext cx="2194560" cy="2194560"/>
          </a:xfrm>
          <a:prstGeom prst="ellipse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274320"/>
            <a:ext cx="822960" cy="8229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3566160" y="10058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什么是ISO 9001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ISO的起源 · 发展历程 · 2015版核心变化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2606040"/>
            <a:ext cx="41148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834640"/>
            <a:ext cx="2743200" cy="475488"/>
          </a:xfrm>
          <a:prstGeom prst="rect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834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质量管理国际标准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743200"/>
            <a:ext cx="1828800" cy="1828800"/>
          </a:xfrm>
          <a:prstGeom prst="ellipse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3063240"/>
            <a:ext cx="1188720" cy="11887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743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ISO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ISO是什么？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914400"/>
          </a:xfrm>
          <a:prstGeom prst="rect">
            <a:avLst/>
          </a:prstGeom>
          <a:solidFill>
            <a:srgbClr val="D0E8F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= 国际标准化组织 (International Organization for Standardization)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由167个国家标准机构组成的全球最大标准化机构，总部位于瑞士日内瓦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1947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2450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成立年份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9202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50592" y="2450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成员国机构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9202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1.7M+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26864" y="2450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全球获证组织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3136" y="19202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全球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03136" y="2450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73152" cy="3657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9001 地位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274320" cy="2743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3474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9000系列是全球最著名的质量管理标准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274320" cy="2743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中国是ISO正式成员（SAC）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65760" y="4572000"/>
            <a:ext cx="274320" cy="2743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9001用于证实组织具有提供满足顾客要求产品的能力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9001发展历程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82296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1987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9001首次发布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148840"/>
            <a:ext cx="502920" cy="502920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48840" y="1691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6E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1994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48840" y="27889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第二次修订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148840"/>
            <a:ext cx="502920" cy="5029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1691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0" y="27889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重大改版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八项管理原则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77640" y="1417320"/>
            <a:ext cx="1143000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417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重大改版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2148840"/>
            <a:ext cx="502920" cy="502920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1691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6E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27889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小修订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2148840"/>
            <a:ext cx="502920" cy="5029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1691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27889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重大改版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七项原则+HLS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1417320"/>
            <a:ext cx="1143000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1417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重大改版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977640"/>
            <a:ext cx="8595360" cy="914400"/>
          </a:xfrm>
          <a:prstGeom prst="rect">
            <a:avLst/>
          </a:prstGeom>
          <a:solidFill>
            <a:srgbClr val="D0E8F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ISO 9001:2015是目前最新有效版本，超过170万个组织获得认证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2015版重大变化（一）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594360" cy="1234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97840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高阶结构（HLS）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与其他所有ISO管理体系标准统一框架，实现体系整合（如ISO 14001、ISO 45001）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21992"/>
            <a:ext cx="594360" cy="12344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21992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3317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风险思维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77063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从预防为主到基于风险的思维，主动识别风险与机遇，而非被动纠正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75304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575304"/>
            <a:ext cx="59436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75304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68503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领导力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12394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强调高层领导在质量管理体系中的核心作用，设定方针、创造环境、推动文化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FDEBD3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核心变化：从「符合要求」升级为「追求卓越绩效」的思维转变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2015版重大变化（二）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594360" cy="1234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97840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组织环境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需明确理解内外部环境因素，包括正面与负面的影响因素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21992"/>
            <a:ext cx="594360" cy="1234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21992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3317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知识管理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77063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组织知识成为重要资源，需明确管控、分享与更新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75304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575304"/>
            <a:ext cx="59436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75304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68503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过程方法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12394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PDCA循环贯穿整个体系，过程管理更加系统化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D0E8F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4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新增「组织知识」要求：组织应获取和管控经验教训，避免知识流失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7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926080"/>
            <a:ext cx="2194560" cy="21945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274320"/>
            <a:ext cx="822960" cy="8229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3566160" y="10058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七项质量管理原则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DEB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9001:2015的核心理念与行动指南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2606040"/>
            <a:ext cx="41148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834640"/>
            <a:ext cx="384048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8346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以顾客为中心 · 领导作用 · 全员参与 · 过程方法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2743200"/>
            <a:ext cx="1828800" cy="18288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306324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743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原则1：以顾客为关注焦点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868680"/>
          </a:xfrm>
          <a:prstGeom prst="rect">
            <a:avLst/>
          </a:prstGeom>
          <a:solidFill>
            <a:srgbClr val="FDEBD3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首要目标：满足顾客要求，持续超越顾客期望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顾客是组织存在的基础——没有顾客，组织便失去存在的意义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73152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关键行动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304288"/>
            <a:ext cx="502920" cy="53035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0428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30428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深入理解顾客当前和未来的需求与期望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898648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98648"/>
            <a:ext cx="502920" cy="53035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9864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289864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确保质量目标与顾客需求保持一致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493008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93008"/>
            <a:ext cx="502920" cy="53035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9300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349300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主动测量顾客满意度，反馈到改进决策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087368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87368"/>
            <a:ext cx="502920" cy="53035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8736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40873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管理系统地管理顾客关系与投诉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制造业场景示例：MIM产品需根据客户规格书定制，关注CPK、良率、交付及时率等KPI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原则2：领导作用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868680"/>
          </a:xfrm>
          <a:prstGeom prst="rect">
            <a:avLst/>
          </a:prstGeom>
          <a:solidFill>
            <a:srgbClr val="FDEBD3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核心：各级领导建立统一宗旨和方向，创造并保持让员工充分参与的内部环境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74520"/>
            <a:ext cx="50292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制定并传播质量方针，确保全员理解并执行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96312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496312"/>
            <a:ext cx="50292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963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4963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设定质量目标并分解到各层级，保障资源到位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11810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118104"/>
            <a:ext cx="50292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1181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11810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以身作则，营造诚信、尊重、协作的组织文化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739896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739896"/>
            <a:ext cx="50292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3989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373989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表彰员工贡献，建立公平有效的绩效激励机制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407408"/>
            <a:ext cx="8595360" cy="530352"/>
          </a:xfrm>
          <a:prstGeom prst="rect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074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常见误区：领导只关注结果、不参与过程；质量方针只是墙上标语，从未落实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原则3：全员积极参与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868680"/>
          </a:xfrm>
          <a:prstGeom prst="rect">
            <a:avLst/>
          </a:prstGeom>
          <a:solidFill>
            <a:srgbClr val="FDEBD3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核心理念：各级人员都是组织之本——只有员工真正参与，质量才有保障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74520"/>
            <a:ext cx="50292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让每位员工理解自身贡献对质量目标的重要性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96312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496312"/>
            <a:ext cx="50292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963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4963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识别工作制约条件并主动推动改善，而非被动等待指令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11810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118104"/>
            <a:ext cx="50292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1181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11810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评估个人绩效，给予培训发展机会，建立成长通道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739896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739896"/>
            <a:ext cx="50292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3989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373989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鼓励质量改进提案文化，对主动发现问题者给予激励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407408"/>
            <a:ext cx="8595360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074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实践工具：QCC小组、质量圈、改进提案制度、合理化建议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原则4：过程方法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868680"/>
          </a:xfrm>
          <a:prstGeom prst="rect">
            <a:avLst/>
          </a:prstGeom>
          <a:solidFill>
            <a:srgbClr val="FDEBD3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核心：将活动作为相互关联的过程来理解和管理，以实现预期结果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74520"/>
            <a:ext cx="50292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74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确定所需的过程及其顺序和相互作用（过程识别与映射）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96312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496312"/>
            <a:ext cx="50292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963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4963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明确规定过程的职责、权限和义务（职责矩阵RASIC）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11810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118104"/>
            <a:ext cx="50292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1181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11810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监测、分析并有计划地改进关键过程（过程KPI）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739896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739896"/>
            <a:ext cx="50292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3989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373989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消除过程中的非增值活动，持续简化与优化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407408"/>
            <a:ext cx="8595360" cy="530352"/>
          </a:xfrm>
          <a:prstGeom prst="rect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074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制造业示例：MIM工艺流程（喂料→注射→脱脂→烧结→后处理）每步均需明确输入输出与检测标准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原则5：改进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868680"/>
          </a:xfrm>
          <a:prstGeom prst="rect">
            <a:avLst/>
          </a:prstGeom>
          <a:solidFill>
            <a:srgbClr val="FDEBD3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核心理念：持续改进是组织的永恒目标——不进则退，慢进也是退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73152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改进的两种类型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304288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04288"/>
            <a:ext cx="548640" cy="9144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04288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3408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突破性改进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创新、颠覆性变革，如新工艺导入、新产品开发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2304288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2304288"/>
            <a:ext cx="54864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304288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76088" y="23408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渐进式改进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76088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日常优化，持续小幅提升，如Kaizen、精益改善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01568"/>
            <a:ext cx="8595360" cy="502920"/>
          </a:xfrm>
          <a:prstGeom prst="rect">
            <a:avLst/>
          </a:prstGeom>
          <a:solidFill>
            <a:srgbClr val="D0E8F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015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4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改进工具：8D报告（重大问题）· 5Why分析（根因挖掘）· FMEA（事前预防）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041648"/>
            <a:ext cx="8595360" cy="502920"/>
          </a:xfrm>
          <a:prstGeom prst="rect">
            <a:avLst/>
          </a:prstGeom>
          <a:solidFill>
            <a:srgbClr val="FDEBD3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416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通过PDCA循环实现持续改进 — Plan策划→Do实施→Check检查→Act处置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原则6：循证决策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868680"/>
          </a:xfrm>
          <a:prstGeom prst="rect">
            <a:avLst/>
          </a:prstGeom>
          <a:solidFill>
            <a:srgbClr val="FDEBD3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核心理念：基于数据和信息的分析和评价做出决策——凭感觉拍脑袋是大忌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决策步骤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86000"/>
            <a:ext cx="502920" cy="5120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8600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收集相关数据和信息（检验记录、审核结果、顾客反馈）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2852928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52928"/>
            <a:ext cx="502920" cy="5120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5292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85292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分析和评价数据，确保数据真实、完整、有代表性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502920" cy="5120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3419856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基于证据（而非猜测或直觉）做出决策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4320" y="3986784"/>
            <a:ext cx="8595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986784"/>
            <a:ext cx="502920" cy="5120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8678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398678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验证决策效果，持续校准决策模型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制造业数据实例：良率、CPK、不良率、OEE、交付及时率 — 用数据说话，而非「我觉得」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原则7：关系管理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868680"/>
          </a:xfrm>
          <a:prstGeom prst="rect">
            <a:avLst/>
          </a:prstGeom>
          <a:solidFill>
            <a:srgbClr val="FDEBD3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8686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核心理念：管理与相关方的关系，实现互惠互利——供应商强，则供应链强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74520"/>
            <a:ext cx="2011680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74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 顾客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4505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质量·交付·价格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8745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874520"/>
            <a:ext cx="201168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874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🚚 供应商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50592" y="24505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公平·稳定·合作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8745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1874520"/>
            <a:ext cx="2011680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874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👷 员工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26864" y="24505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安全·发展·认可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03136" y="18745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1874520"/>
            <a:ext cx="2011680" cy="5486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874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🏛️ 监管机构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03136" y="24505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合规·法规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246120"/>
            <a:ext cx="8595360" cy="502920"/>
          </a:xfrm>
          <a:prstGeom prst="rect">
            <a:avLst/>
          </a:prstGeom>
          <a:solidFill>
            <a:srgbClr val="D0E8F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4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供应商关系管理：对关键供应商进行QSA审核、FMEA共享、联合持续改进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886200"/>
            <a:ext cx="8595360" cy="502920"/>
          </a:xfrm>
          <a:prstGeom prst="rect">
            <a:avLst/>
          </a:prstGeom>
          <a:solidFill>
            <a:srgbClr val="FDEBD3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核心原则：互惠互利，而非零和博弈 — 压榨供应商最终损害的是自身质量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77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926080"/>
            <a:ext cx="2194560" cy="2194560"/>
          </a:xfrm>
          <a:prstGeom prst="ellipse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274320"/>
            <a:ext cx="822960" cy="8229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3566160" y="10058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PDCA循环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· Do · Check · Act  持续改进的核心方法论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2606040"/>
            <a:ext cx="41148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834640"/>
            <a:ext cx="3200400" cy="475488"/>
          </a:xfrm>
          <a:prstGeom prst="rect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8346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由戴明博士推广的持续改进环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743200"/>
            <a:ext cx="1828800" cy="1828800"/>
          </a:xfrm>
          <a:prstGeom prst="ellipse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3063240"/>
            <a:ext cx="1188720" cy="11887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743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🔄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PDCA循环详解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1097280" cy="11430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417320" y="841248"/>
            <a:ext cx="7452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841248"/>
            <a:ext cx="73152" cy="11430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9144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策划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129844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确定目标、制定计划、建立流程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分析现状，找出问题根本原因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19202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6E7A"/>
                </a:solidFill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121408"/>
            <a:ext cx="1097280" cy="1143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21408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417320" y="2121408"/>
            <a:ext cx="7452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2121408"/>
            <a:ext cx="73152" cy="11430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21945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实施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257860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按计划执行实施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收集过程数据，记录关键信息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" y="32004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6E7A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401568"/>
            <a:ext cx="1097280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01568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4000" dirty="0"/>
          </a:p>
        </p:txBody>
      </p:sp>
      <p:sp>
        <p:nvSpPr>
          <p:cNvPr id="21" name="Shape 19"/>
          <p:cNvSpPr/>
          <p:nvPr/>
        </p:nvSpPr>
        <p:spPr>
          <a:xfrm>
            <a:off x="1417320" y="3401568"/>
            <a:ext cx="7452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17320" y="3401568"/>
            <a:ext cx="73152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34747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 检查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00200" y="385876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监控测量，核对实际结果与计划目标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分析偏差，识别改进机会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" y="44805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6E7A"/>
                </a:solidFill>
              </a:rPr>
              <a:t>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4681728"/>
            <a:ext cx="1097280" cy="11430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81728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000" dirty="0"/>
          </a:p>
        </p:txBody>
      </p:sp>
      <p:sp>
        <p:nvSpPr>
          <p:cNvPr id="28" name="Shape 26"/>
          <p:cNvSpPr/>
          <p:nvPr/>
        </p:nvSpPr>
        <p:spPr>
          <a:xfrm>
            <a:off x="1417320" y="4681728"/>
            <a:ext cx="7452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7320" y="4681728"/>
            <a:ext cx="73152" cy="11430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0200" y="475488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 处置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00200" y="513892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基于检查结果采取行动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标准化成功经验，处理遗留问题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PDCA循环 — 持续改进的动态过程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2011680" cy="6858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策划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确定目标和实现目标的路径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分析现状，识别问题根因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804672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804672"/>
            <a:ext cx="201168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80467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1460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实施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19933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按照计划执行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记录过程数据，收集证据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804672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804672"/>
            <a:ext cx="201168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80467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6344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 检查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19933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监控测量，对比目标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分析偏差，发现改进机会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804672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804672"/>
            <a:ext cx="2011680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80467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1228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 处置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19933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标准化成功经验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处理遗留问题，进入下一轮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21945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46E7A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57600" y="21945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46E7A"/>
                </a:solidFill>
              </a:rPr>
              <a:t>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806440" y="21945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46E7A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80960" y="2194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46E7A"/>
                </a:solidFill>
              </a:rPr>
              <a:t>⟳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" y="3337560"/>
            <a:ext cx="8595360" cy="1554480"/>
          </a:xfrm>
          <a:prstGeom prst="rect">
            <a:avLst/>
          </a:prstGeom>
          <a:solidFill>
            <a:srgbClr val="D0E8F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01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PDCA在ISO 9001中的应用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378561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体系层面：第4-10章整体应用PDCA循环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15137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过程层面：每个过程（研发/采购/生产/检验）均需PDCA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5171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改进层面：内审发现→纠正措施→验证效果→持续改进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926080"/>
            <a:ext cx="2194560" cy="219456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27432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3566160" y="8229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组织环境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与风险思维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566160" y="2194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理解内外部环境 · 识别相关方需求 · 主动管控风险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2788920"/>
            <a:ext cx="4572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971800"/>
            <a:ext cx="3657600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2015版新增核心要求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2743200"/>
            <a:ext cx="1828800" cy="18288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306324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743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⚠</a:t>
            </a:r>
            <a:endParaRPr lang="en-US" sz="4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理解组织环境（4.1）— 知己知彼，百战不殆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80467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核心要求：组织应确定影响质量管理体系的各种因素，包括正面与负面的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10512"/>
            <a:ext cx="41148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10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外部环境因素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395728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350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法律法规（环保、劳动）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807208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61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市场竞争（对手价格/技术）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218688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技术进步（自动化、AI）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630168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584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经济形势（原材料价格波动）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810512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810512"/>
            <a:ext cx="4114800" cy="5029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810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🏢 内部环境因素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2395728"/>
            <a:ext cx="201168" cy="20116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2350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企业文化（质量文化 vs 速度优先）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92040" y="2807208"/>
            <a:ext cx="201168" cy="20116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2761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资源状况（设备、资金、人员）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92040" y="3218688"/>
            <a:ext cx="201168" cy="20116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管理流程（职责分工、审批效率）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92040" y="3630168"/>
            <a:ext cx="201168" cy="20116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3584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技术能力（工艺水平、研发实力）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4224528"/>
            <a:ext cx="8595360" cy="713232"/>
          </a:xfrm>
          <a:prstGeom prst="rect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245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MIM制造业实例：原材料价格波动（外部）+ 设备老化（内部）+ 订单交期压力（外部）都需纳入QMS策划考量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理解相关方需求（4.2）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80467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相关方：影响或受质量管理体系影响的个人或组织——需明确其需求并决定应对措施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28800"/>
            <a:ext cx="201168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28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 顾客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产品质量稳定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交付及时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CPK≥1.33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82880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1828800"/>
            <a:ext cx="201168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828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🚚 供应商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42032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公平采购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技术协同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账期合理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50592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182880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1828800"/>
            <a:ext cx="201168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828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👷 员工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8304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安全生产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培训机会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职业发展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26864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03136" y="182880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03136" y="1828800"/>
            <a:ext cx="201168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3136" y="1828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🏛️ 监管机构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94576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合规经营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证照齐全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环保达标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03136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常见错误：只关注顾客，忽视员工/供应商/社区的合理需求——关系管理需要平衡各方利益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基于风险的思维 — 预防优于纠正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80467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9144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风险：不确定性对预期结果的影响（可能是负面威胁，也可能是正面机遇）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4160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10512"/>
            <a:ext cx="4160520" cy="5029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105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风险（负面）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182880" cy="18288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77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设备故障导致停产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43784"/>
            <a:ext cx="182880" cy="18288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980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供应商断货影响交付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264408"/>
            <a:ext cx="182880" cy="18288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186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客户投诉导致索赔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685032"/>
            <a:ext cx="182880" cy="18288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39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员工离职导致技术流失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810512"/>
            <a:ext cx="4160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810512"/>
            <a:ext cx="41605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8105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机遇（正面）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423160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377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新客户开发增加订单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843784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7980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技术改进提升良率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264408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2186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竞争对手失误赢得份额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685032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639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标准升级建立壁垒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004E7A"/>
          </a:solidFill>
          <a:ln w="12700">
            <a:solidFill>
              <a:srgbClr val="004E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风险应对策略：规避（停止高风险活动）· 减轻（降低发生概率/影响）· 接受（明确残余风险）· 转移（购买保险/外包）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6A1B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926080"/>
            <a:ext cx="2194560" cy="2194560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274320"/>
            <a:ext cx="822960" cy="82296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3566160" y="10058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质量管理体系结构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高阶结构（HLS）· ISO 9001:2015十章框架解读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2606040"/>
            <a:ext cx="4572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834640"/>
            <a:ext cx="3200400" cy="47548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8346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Annex SL — 统一管理体系架构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743200"/>
            <a:ext cx="1828800" cy="1828800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306324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743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HLS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高阶结构（HLS）— 十章框架解读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685800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932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组织环境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3167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内外部因素、相关方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65376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65376"/>
            <a:ext cx="685800" cy="9144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65376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19568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领导作用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3408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方针、职责、激励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89504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89504"/>
            <a:ext cx="6858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89504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298094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364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风险机遇、质量目标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13632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913632"/>
            <a:ext cx="685800" cy="9144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13632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1560" y="40050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资源、能力、沟通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841248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841248"/>
            <a:ext cx="685800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841248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32120" y="932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32120" y="13167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产品服务实现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1865376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865376"/>
            <a:ext cx="685800" cy="9144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865376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32120" y="19568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绩效评价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32120" y="23408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监控测量、内审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889504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889504"/>
            <a:ext cx="6858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889504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532120" y="298094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532120" y="3364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不符合、纠正、持续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统一HLS：ISO 9001/14001/45001等体系可整合为一，减少重复、提升效率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546E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926080"/>
            <a:ext cx="2194560" cy="2194560"/>
          </a:xfrm>
          <a:prstGeom prst="ellipse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274320"/>
            <a:ext cx="822960" cy="822960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3566160" y="10058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文件化要求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D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质量管理体系的文件架构与管理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2606040"/>
            <a:ext cx="41148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834640"/>
            <a:ext cx="2926080" cy="47548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8346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写你所做 · 做你所写 · 记你所做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743200"/>
            <a:ext cx="1828800" cy="1828800"/>
          </a:xfrm>
          <a:prstGeom prst="ellipse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3063240"/>
            <a:ext cx="1188720" cy="11887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743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📄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3152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文件化信息 — 必须文件 vs 通常需要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114800" cy="5029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必须形成的文件（4项）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44752"/>
            <a:ext cx="457200" cy="5120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4475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44475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质量方针（形成文件）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11680"/>
            <a:ext cx="457200" cy="5120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1168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01168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质量目标（形成文件）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57860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78608"/>
            <a:ext cx="457200" cy="5120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7860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57860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质量管理范围（形成文件）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45536"/>
            <a:ext cx="457200" cy="5120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4553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14553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组织架构与职责分配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841248"/>
            <a:ext cx="41148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8412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通常需要的文件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44475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444752"/>
            <a:ext cx="365760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144475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程序文件（内审/不合格控制等）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90195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901952"/>
            <a:ext cx="365760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190195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作业指导书SOP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35915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359152"/>
            <a:ext cx="365760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235915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产品图纸、技术规范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81635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816352"/>
            <a:ext cx="365760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281635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检验记录、测试报告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27355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273552"/>
            <a:ext cx="365760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327355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FMEA、控制计划（制造业）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73075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730752"/>
            <a:ext cx="365760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373075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设备维护记录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224528"/>
            <a:ext cx="8595360" cy="713232"/>
          </a:xfrm>
          <a:prstGeom prst="rect">
            <a:avLst/>
          </a:prstGeom>
          <a:solidFill>
            <a:srgbClr val="D0E8F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2245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4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文件管理原则：适量、适用、可操作——文件过多会成为负担，文件过少则无法传承。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要点回顾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9001:2015 核心理念总结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68580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2801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9001:2015是质量管理的国际标准，采用高阶结构便于多体系整合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93392"/>
            <a:ext cx="685800" cy="6400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9339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1993392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七项质量管理原则是ISO 9001的核心理念，贯穿整个标准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82296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06624"/>
            <a:ext cx="68580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0662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706624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PDCA循环是持续改进的核心方法论，贯穿体系所有过程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419856"/>
            <a:ext cx="82296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19856"/>
            <a:ext cx="68580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1985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419856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基于风险的思维要求组织主动识别风险与机遇，提前预防问题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133088"/>
            <a:ext cx="82296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33088"/>
            <a:ext cx="685800" cy="6400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330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413308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文件化是体系运行的证据——写你所做、做你所写、记你所做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学以致用，主动实践——质量管理的价值在于解决实际问题 🏆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4572000" cy="5143500"/>
          </a:xfrm>
          <a:prstGeom prst="rect">
            <a:avLst/>
          </a:prstGeom>
          <a:solidFill>
            <a:srgbClr val="0C1E30"/>
          </a:solidFill>
          <a:ln w="12700">
            <a:solidFill>
              <a:srgbClr val="0C1E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D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谢谢参与 · ISO 9001:2015 质量管理体系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03320" y="3200400"/>
            <a:ext cx="457200" cy="4572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3200400"/>
            <a:ext cx="457200" cy="45720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来源：质量管理培训资料   2026.04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 9001:2015 质量管理体系入门培训</dc:title>
  <dc:subject>PptxGenJS Presentation</dc:subject>
  <dc:creator>PptxGenJS</dc:creator>
  <cp:lastModifiedBy>PptxGenJS</cp:lastModifiedBy>
  <cp:revision>1</cp:revision>
  <dcterms:created xsi:type="dcterms:W3CDTF">2026-04-24T04:00:08Z</dcterms:created>
  <dcterms:modified xsi:type="dcterms:W3CDTF">2026-04-24T04:00:08Z</dcterms:modified>
</cp:coreProperties>
</file>