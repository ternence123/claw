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150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2049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SPC统计过程控制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3σ 原理培训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3108960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适用对象：生产 </a:t>
            </a:r>
            <a:r>
              <a:rPr lang="en-US" altLang="zh-CN" sz="2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</a:t>
            </a:r>
            <a:r>
              <a:rPr lang="zh-CN" altLang="en-US" sz="2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</a:t>
            </a:r>
            <a:r>
              <a:rPr lang="en-US" altLang="zh-CN" sz="2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</a:t>
            </a:r>
            <a:r>
              <a:rPr lang="zh-CN" altLang="en-US" sz="2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工程部门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培训内容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正态分布与3σ原理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68-95-99.7法则、σ直观理解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标准差σ的计算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公式推导、极差法、手算示例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控制限UCL/LCL的由来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公式、常数表、实例演练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37160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SPC与6σ的关系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DMAIC流程、两者的分工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56032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MIM实战案例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内孔径控制、过程能力分析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74904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要点速记卡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核心公式、关键数字速记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663440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正态分布与3σ原理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846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正态分布（钟形曲线）示意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15544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μ-3σ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08760" y="3749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μ-2σ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3749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μ-1σ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71800" y="3749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03320" y="3749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μ+1σ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34840" y="3749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μ+2σ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3749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μ+3σ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023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标准差，反映数据的离散程度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94960" y="1005840"/>
            <a:ext cx="33832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784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68 - 95 - 99.7 法则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577840" y="1600200"/>
            <a:ext cx="3017520" cy="777240"/>
          </a:xfrm>
          <a:prstGeom prst="rect">
            <a:avLst/>
          </a:prstGeom>
          <a:solidFill>
            <a:srgbClr val="10B981">
              <a:alpha val="8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160020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0" y="16733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±1σ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49440" y="1691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包含比例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68.27%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76072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区间外: 31.73%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2514600"/>
            <a:ext cx="3017520" cy="777240"/>
          </a:xfrm>
          <a:prstGeom prst="rect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2514600"/>
            <a:ext cx="73152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0" y="25877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±2σ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49440" y="2606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包含比例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2834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95.45%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760720" y="2971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区间外: 4.55%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77840" y="3429000"/>
            <a:ext cx="3017520" cy="777240"/>
          </a:xfrm>
          <a:prstGeom prst="rect">
            <a:avLst/>
          </a:prstGeom>
          <a:solidFill>
            <a:srgbClr val="0891B2">
              <a:alpha val="8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77840" y="3429000"/>
            <a:ext cx="73152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5760720" y="35021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±3σ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949440" y="3520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包含比例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49440" y="3749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99.73%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76072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区间外: 0.27%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几乎所有正常产品都落在 μ ± 3σ 范围内，超出即为异常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σ（标准差）的直观理解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01168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=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0.001mm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尺寸波动极小，精度极高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645920" cy="41148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专业测量仪器水平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BD5E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560320" y="109728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1097280"/>
            <a:ext cx="201168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143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=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0.005mm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51760" y="18745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波动较小，精密制造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0" y="2834640"/>
            <a:ext cx="1645920" cy="411480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MIM优质工艺水平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BD5E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097280"/>
            <a:ext cx="201168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143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=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0.015mm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6320" y="18745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波动较大，需关注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2834640"/>
            <a:ext cx="1645920" cy="41148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接近规格公差边缘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321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BD5E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6949440" y="109728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49440" y="1097280"/>
            <a:ext cx="201168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0" y="1143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=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4944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0.025mm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40880" y="18745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波动过大，过程失控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132320" y="2834640"/>
            <a:ext cx="1645920" cy="411480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大量超差风险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266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BD5E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365760" y="379476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" y="3886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 3σ 而不是 2σ 或 4σ？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" y="4297680"/>
            <a:ext cx="2560320" cy="502920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297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±2σ  误报率4.55%（太高）  →  频繁误报警，效率低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91840" y="4297680"/>
            <a:ext cx="2560320" cy="50292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4297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±3σ  误报率0.27%（适中）  →  业界黄金标准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35040" y="4297680"/>
            <a:ext cx="2560320" cy="50292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4297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±4σ  误报率0.006%  →  漏报风险大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标准差 σ 的计算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91440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计算公式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 = √[ Σ(xᵢ - x̄)² / (n-1) ]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0" y="114300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xᵢ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57276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第i个测量值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035040" y="114300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06440" y="157276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样本均值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040880" y="114300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12280" y="157276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样本数量（≥25组）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046720" y="114300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18120" y="157276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贝塞尔校正（无偏估计）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2194560"/>
            <a:ext cx="50292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手算步骤（以MIM内孔径为例）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269748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26974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收集数据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77440" y="26974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连续采集25组×5件=125个测量值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227832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227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32278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计算均值 x̄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77440" y="32278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例：x̄ = (2.001+1.999+2.002+1.998+2.000)/5 = 2.000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758184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5840" y="37581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计算偏差平方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377440" y="37581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(2.001-2.000)²=0.000001 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288536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288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05840" y="42885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 σ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377440" y="428853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√(偏差平方和 / (n-1)) ≈ 0.0016mm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77840" y="2194560"/>
            <a:ext cx="32004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760720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两种σ估算方法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760720" y="2743200"/>
            <a:ext cx="2834640" cy="1005840"/>
          </a:xfrm>
          <a:prstGeom prst="rect">
            <a:avLst/>
          </a:prstGeom>
          <a:solidFill>
            <a:srgbClr val="0891B2">
              <a:alpha val="9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5216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极差法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852160" y="3063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σ̂ = R̄ / d₂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852160" y="3401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简单快速，适合日常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760720" y="3840480"/>
            <a:ext cx="2834640" cy="960120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52160" y="3886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标准差法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852160" y="4160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σ̂ = S̄ / c₄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852160" y="44988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更精确，适合大批量数据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控制图常数表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92608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D₃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1.880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3.267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0.7979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2.574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1.693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0.8862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2.282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0.9213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2.534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0.9515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1.864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2.847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1.777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3.078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0.9727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3840480" cy="1097280"/>
          </a:xfrm>
          <a:prstGeom prst="rect">
            <a:avLst/>
          </a:prstGeom>
          <a:solidFill>
            <a:srgbClr val="0891B2">
              <a:alpha val="90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3931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X̄ 图（均值图）</a:t>
            </a:r>
            <a:endParaRPr lang="en-US" sz="1300" dirty="0"/>
          </a:p>
        </p:txBody>
      </p:sp>
      <p:sp>
        <p:nvSpPr>
          <p:cNvPr id="4" name="Text 4"/>
          <p:cNvSpPr/>
          <p:nvPr/>
        </p:nvSpPr>
        <p:spPr>
          <a:xfrm>
            <a:off x="594360" y="4251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UCL = X̄̄ + A₂ × R̄    LCL = X̄̄ - A₂ × R̄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0" y="3840480"/>
            <a:ext cx="4114800" cy="1097280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09160" y="3931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图（极差图）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09160" y="4251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UCL = D₄ × R̄    CL = R̄    LCL = D₃ × R̄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控制限 UCL / LCL 如何得来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058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UCL/LCL 来自过程自身历史数据统计计算 ≠ 规格公差 ≠ 人为设定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8412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874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实例演算（n=5，X̄̄=2.000mm，R̄=0.005mm）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840480" cy="640080"/>
          </a:xfrm>
          <a:prstGeom prst="rect">
            <a:avLst/>
          </a:prstGeom>
          <a:solidFill>
            <a:srgbClr val="0891B2">
              <a:alpha val="9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X̄ 图结果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UCL = 2.003  |  CL = 2.000  |  LCL = 1.997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286000"/>
            <a:ext cx="4023360" cy="640080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图结果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UCL = 0.0106  |  CL = 0.005  |  LCL = 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0175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X̄图推算：UCL = 2.000 + 0.577×0.005 = 2.003mm    LCL = 2.000 - 0.577×0.005 = 1.997mm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3375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R图推算：UCL = 2.114×0.005 = 0.0106mm    （n=5，D₃=0，故LCL=0）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16052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572000"/>
            <a:ext cx="80467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4251960"/>
            <a:ext cx="27432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297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4526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规格上限（客户）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0" y="4251960"/>
            <a:ext cx="2743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4297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4526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控制上限（过程）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14800" y="4251960"/>
            <a:ext cx="27432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3886200" y="4297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0" y="4526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中心线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0" y="4251960"/>
            <a:ext cx="2743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2514600" y="4297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0" y="4526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控制下限（过程）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371600" y="4251960"/>
            <a:ext cx="27432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1143000" y="4297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4400" y="4526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规格下限（客户）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" y="46634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控制限 通常窄于规格限（反映过程真实能力，而非客户要求）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控制限 vs 规格公差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0116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UCL/LCL（控制限）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USL/LSL（规格限）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891B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过程历史数据计算得出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59E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客户/图纸要求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过程是否稳定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产品是否合格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SPC预警、查找原因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判定报废/放行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宽窄关系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B9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通常窄于规格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通常宽于控制限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291840"/>
            <a:ext cx="91440" cy="1554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两句核心话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3794760"/>
            <a:ext cx="347472" cy="34747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Text 6"/>
          <p:cNvSpPr/>
          <p:nvPr/>
        </p:nvSpPr>
        <p:spPr>
          <a:xfrm>
            <a:off x="73152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88720" y="37490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UCL/LCL = 过程告诉你的    USL/LSL = 客户告诉你的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" y="4297680"/>
            <a:ext cx="347472" cy="34747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88720" y="42519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超出控制限 → 过程异常，查原因    超出规格限 → 产品不合格，做处置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SPC 与 6σ 的关系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 = 监控工具（仪表盘）    vs    6σ = 优化方法论（工程体系）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控制范围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828800"/>
            <a:ext cx="2560320" cy="36576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±3σ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0" y="1828800"/>
            <a:ext cx="3291840" cy="365760"/>
          </a:xfrm>
          <a:prstGeom prst="rect">
            <a:avLst/>
          </a:prstGeom>
          <a:solidFill>
            <a:srgbClr val="1E3A5F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6σ ±6σ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84124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缺陷率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0" y="2331720"/>
            <a:ext cx="2560320" cy="36576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2,700 PPM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0" y="2331720"/>
            <a:ext cx="3291840" cy="365760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286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6σ 3.4 PPM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788920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良品率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60320" y="2834640"/>
            <a:ext cx="2560320" cy="36576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2788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99.73%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03520" y="2834640"/>
            <a:ext cx="3291840" cy="36576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6σ 99.99966%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291840"/>
            <a:ext cx="84124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思维方式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60320" y="3337560"/>
            <a:ext cx="2560320" cy="36576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被动检测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03520" y="3337560"/>
            <a:ext cx="3291840" cy="36576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3291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6σ 主动优化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3794760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794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执行角色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560320" y="3840480"/>
            <a:ext cx="2560320" cy="36576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0" y="3794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QC/工程师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303520" y="3840480"/>
            <a:ext cx="3291840" cy="365760"/>
          </a:xfrm>
          <a:prstGeom prst="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3794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6σ BB/GB黑带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389120"/>
            <a:ext cx="146304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370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D界定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45994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客户CTQ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011680" y="438912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240280" y="4389120"/>
            <a:ext cx="14630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40280" y="4370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M测量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240280" y="45994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SPC基线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703320" y="438912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931920" y="4389120"/>
            <a:ext cx="146304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0" y="4370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A分析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931920" y="45994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σ来源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94960" y="438912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623560" y="4389120"/>
            <a:ext cx="146304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23560" y="4370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I改进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623560" y="45994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降σ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086600" y="438912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315200" y="4389120"/>
            <a:ext cx="146304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0" y="4370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C控制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315200" y="45994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新控制限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MIM实战案例：内孔径控制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场景参数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产品：MIM不锈钢零件内孔径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规格：2.000 ± 0.010 mm（USL=2.010, LSL=1.990）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子组：每小时抽取5件，共25组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005840"/>
            <a:ext cx="73152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计算结果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4173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总均值 X̄̄ = 2.0002 mm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平均极差 R̄ = 0.0050 mm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σ̂ = 0.005 / 2.326 = 0.00215 mm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4023360" cy="1188720"/>
          </a:xfrm>
          <a:prstGeom prst="rect">
            <a:avLst/>
          </a:prstGeom>
          <a:solidFill>
            <a:srgbClr val="0891B2">
              <a:alpha val="90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450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X̄ 控制图控制限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834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UCL = 2.003 mm    CL = 2.000 mm    LCL = 1.997 mm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2377440"/>
            <a:ext cx="4206240" cy="1188720"/>
          </a:xfrm>
          <a:prstGeom prst="rect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4505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过程能力分析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788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Cpk = 0.0098 / 0.00645 ≈ 1.52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31272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Cpk ≥ 1.33 → 过程能力良好，维持监控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822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Cpk 能力等级参照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1920240" cy="685800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160520"/>
            <a:ext cx="192024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1.0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4348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能力不足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6177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立即改进，列入FMEA高风险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60320" y="4160520"/>
            <a:ext cx="1920240" cy="68580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0" y="4160520"/>
            <a:ext cx="192024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256032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1.0~1.33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60320" y="44348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勉强合格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60320" y="46177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改进，提升Cp/Cpk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63440" y="4160520"/>
            <a:ext cx="1920240" cy="68580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4160520"/>
            <a:ext cx="192024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1.33~1.67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63440" y="44348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63440" y="46177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维持监控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766560" y="4160520"/>
            <a:ext cx="1920240" cy="685800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66560" y="4160520"/>
            <a:ext cx="192024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1.67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66560" y="44348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66560" y="46177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追求更高效率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要点速记卡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91440" cy="2377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789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核心公式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554480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54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508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= √[Σ(xᵢ-x̄)²/(n-1)]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508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计算标准差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1938528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938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18928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σ̂ = R̄ / d₂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18928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极差法估算σ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2322576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3225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2768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 = X̄̄ + A₂×R̄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22768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均值图控制限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2706624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7066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26609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 = D₄×R̄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266090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极差图控制限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3090672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0906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30449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Cpk = min(USL-x̄,x̄-LSL)/3σ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17520" y="30449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过程能力指数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1005840"/>
            <a:ext cx="4206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1005840"/>
            <a:ext cx="91440" cy="2377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关键数字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800600" y="1508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68.27%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715000" y="15087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μ±1σ 范围内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19476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95.45%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715000" y="194767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μ±2σ 范围内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238658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99.73%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715000" y="2386584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μ±3σ 范围内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28254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2,700 PPM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715000" y="2825496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3σ时缺陷率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20840" y="1508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3.4 PPM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635240" y="15087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6σ时缺陷率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20840" y="19476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25组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635240" y="194767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计算σ最少数据量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20840" y="238658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Cpk ≥ 1.33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635240" y="2386584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过程能力合格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3566160"/>
            <a:ext cx="8412480" cy="1371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3639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三句核心话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48640" y="4069080"/>
            <a:ext cx="228600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4069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14400" y="40233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σ是过程"告诉"你的，不是你设定的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48640" y="4389120"/>
            <a:ext cx="228600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43891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14400" y="4343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UCL/LCL是过程告诉你的，USL/LSL是客户告诉你的，两者不能混淆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48640" y="4709160"/>
            <a:ext cx="228600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4709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1440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SPC告诉你哪里出问题，6σ告诉你如何系统解决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 SPC 与 3σ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 err="1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让管控从"凭经验"走向"用数据说话</a:t>
            </a:r>
            <a:r>
              <a:rPr lang="en-US" sz="22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959</Words>
  <Application>Microsoft Office PowerPoint</Application>
  <PresentationFormat>全屏显示(16:9)</PresentationFormat>
  <Paragraphs>310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Microsoft YaHei</vt:lpstr>
      <vt:lpstr>Arial</vt:lpstr>
      <vt:lpstr>Arial Black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SPC统计过程控制与3σ原理培训</dc:title>
  <dc:subject>PptxGenJS Presentation</dc:subject>
  <dc:creator>WorkBuddy</dc:creator>
  <cp:lastModifiedBy>Windows 用户</cp:lastModifiedBy>
  <cp:revision>2</cp:revision>
  <dcterms:created xsi:type="dcterms:W3CDTF">2026-04-25T01:57:25Z</dcterms:created>
  <dcterms:modified xsi:type="dcterms:W3CDTF">2026-04-25T02:00:47Z</dcterms:modified>
</cp:coreProperties>
</file>