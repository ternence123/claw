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8" r:id="rId19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SPC 统计过程控制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457200" y="21488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891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 3σ 原理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3200400" y="2926080"/>
            <a:ext cx="2743200" cy="36576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31089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MIM行业质量管理体系 · 内部培训教材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2286000" y="4114800"/>
            <a:ext cx="1371600" cy="365760"/>
          </a:xfrm>
          <a:prstGeom prst="rect">
            <a:avLst/>
          </a:prstGeom>
          <a:solidFill>
            <a:srgbClr val="0891B2">
              <a:alpha val="20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86000" y="41148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891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生产部门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931920" y="4114800"/>
            <a:ext cx="1371600" cy="365760"/>
          </a:xfrm>
          <a:prstGeom prst="rect">
            <a:avLst/>
          </a:prstGeom>
          <a:solidFill>
            <a:srgbClr val="0891B2">
              <a:alpha val="20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931920" y="41148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891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质量部门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577840" y="4114800"/>
            <a:ext cx="1371600" cy="365760"/>
          </a:xfrm>
          <a:prstGeom prst="rect">
            <a:avLst/>
          </a:prstGeom>
          <a:solidFill>
            <a:srgbClr val="0891B2">
              <a:alpha val="20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577840" y="41148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891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工程部门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培训内容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457200" cy="45720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280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51560" y="12801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正态分布与3σ原理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51560" y="16002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68-95-99.7法则、σ概念、直观理解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2468880"/>
            <a:ext cx="457200" cy="45720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2468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51560" y="24688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标准差σ的计算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51560" y="27889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公式推导、极差法/标准差法、常数表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3657600"/>
            <a:ext cx="457200" cy="45720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3657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51560" y="36576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UCL/LCL控制限由来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51560" y="39776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公式、常数表、控制限vs规格限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846320" y="1280160"/>
            <a:ext cx="457200" cy="45720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8" name="Text 16"/>
          <p:cNvSpPr/>
          <p:nvPr/>
        </p:nvSpPr>
        <p:spPr>
          <a:xfrm>
            <a:off x="4846320" y="1280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40680" y="12801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SPC与6σ的关系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440680" y="16002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DMAIC流程、两者的分工与协作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846320" y="2468880"/>
            <a:ext cx="457200" cy="45720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22" name="Text 20"/>
          <p:cNvSpPr/>
          <p:nvPr/>
        </p:nvSpPr>
        <p:spPr>
          <a:xfrm>
            <a:off x="4846320" y="2468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440680" y="24688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MIM实战案例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440680" y="27889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内孔径控制、过程能力Cpk分析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846320" y="3657600"/>
            <a:ext cx="457200" cy="45720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26" name="Text 24"/>
          <p:cNvSpPr/>
          <p:nvPr/>
        </p:nvSpPr>
        <p:spPr>
          <a:xfrm>
            <a:off x="4846320" y="3657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440680" y="36576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要点速记卡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440680" y="39776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核心公式、关键数字速记、实战口诀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57200" y="4663440"/>
            <a:ext cx="8229600" cy="9144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30" name="Text 28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培训时长约 60 分钟  |  前置知识：基础数学（均值、平方根概念）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 正态分布与3σ原理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448056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024128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正态分布柱状图与五线关系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30936" y="3427903"/>
            <a:ext cx="256032" cy="92537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23544" y="3298351"/>
            <a:ext cx="256032" cy="222089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216152" y="3057754"/>
            <a:ext cx="256032" cy="462686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508760" y="2687604"/>
            <a:ext cx="256032" cy="832836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801368" y="2261933"/>
            <a:ext cx="256032" cy="1258507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093976" y="1947306"/>
            <a:ext cx="256032" cy="1573134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386584" y="1669694"/>
            <a:ext cx="256032" cy="1850746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679192" y="1947306"/>
            <a:ext cx="256032" cy="1573134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971800" y="2261933"/>
            <a:ext cx="256032" cy="1258507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64408" y="2687604"/>
            <a:ext cx="256032" cy="832836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557016" y="3057754"/>
            <a:ext cx="256032" cy="462686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849624" y="3298351"/>
            <a:ext cx="256032" cy="222089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142232" y="3427903"/>
            <a:ext cx="256032" cy="92537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45236" y="1417320"/>
            <a:ext cx="27432" cy="2103120"/>
          </a:xfrm>
          <a:prstGeom prst="rect">
            <a:avLst/>
          </a:prstGeom>
          <a:solidFill>
            <a:srgbClr val="8E44AD"/>
          </a:solidFill>
          <a:ln/>
        </p:spPr>
      </p:sp>
      <p:sp>
        <p:nvSpPr>
          <p:cNvPr id="20" name="Text 18"/>
          <p:cNvSpPr/>
          <p:nvPr/>
        </p:nvSpPr>
        <p:spPr>
          <a:xfrm>
            <a:off x="438912" y="3575304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E44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LSL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38912" y="3758184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规格下限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1330452" y="1417320"/>
            <a:ext cx="27432" cy="210312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23" name="Text 21"/>
          <p:cNvSpPr/>
          <p:nvPr/>
        </p:nvSpPr>
        <p:spPr>
          <a:xfrm>
            <a:off x="1024128" y="3575304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LCL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024128" y="3758184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μ-3σ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2500884" y="1417320"/>
            <a:ext cx="27432" cy="2103120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26" name="Shape 24"/>
          <p:cNvSpPr/>
          <p:nvPr/>
        </p:nvSpPr>
        <p:spPr>
          <a:xfrm>
            <a:off x="2350008" y="1325880"/>
            <a:ext cx="329184" cy="329184"/>
          </a:xfrm>
          <a:prstGeom prst="ellipse">
            <a:avLst/>
          </a:prstGeom>
          <a:solidFill>
            <a:srgbClr val="0D2137"/>
          </a:solidFill>
          <a:ln/>
        </p:spPr>
      </p:sp>
      <p:sp>
        <p:nvSpPr>
          <p:cNvPr id="27" name="Text 25"/>
          <p:cNvSpPr/>
          <p:nvPr/>
        </p:nvSpPr>
        <p:spPr>
          <a:xfrm>
            <a:off x="2350008" y="13258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μ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2148840" y="1673352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21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中心线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671316" y="1417320"/>
            <a:ext cx="27432" cy="210312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30" name="Text 28"/>
          <p:cNvSpPr/>
          <p:nvPr/>
        </p:nvSpPr>
        <p:spPr>
          <a:xfrm>
            <a:off x="3364992" y="3575304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UCL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3364992" y="3758184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μ+3σ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4256532" y="1417320"/>
            <a:ext cx="27432" cy="2103120"/>
          </a:xfrm>
          <a:prstGeom prst="rect">
            <a:avLst/>
          </a:prstGeom>
          <a:solidFill>
            <a:srgbClr val="8E44AD"/>
          </a:solidFill>
          <a:ln/>
        </p:spPr>
      </p:sp>
      <p:sp>
        <p:nvSpPr>
          <p:cNvPr id="33" name="Text 31"/>
          <p:cNvSpPr/>
          <p:nvPr/>
        </p:nvSpPr>
        <p:spPr>
          <a:xfrm>
            <a:off x="3950208" y="3575304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E44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USL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950208" y="3758184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规格上限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502920" y="3520440"/>
            <a:ext cx="4023360" cy="2286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36" name="Shape 34"/>
          <p:cNvSpPr/>
          <p:nvPr/>
        </p:nvSpPr>
        <p:spPr>
          <a:xfrm>
            <a:off x="548640" y="4005072"/>
            <a:ext cx="182880" cy="146304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37" name="Text 35"/>
          <p:cNvSpPr/>
          <p:nvPr/>
        </p:nvSpPr>
        <p:spPr>
          <a:xfrm>
            <a:off x="768096" y="399592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±1σ  68%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1828800" y="4005072"/>
            <a:ext cx="182880" cy="146304"/>
          </a:xfrm>
          <a:prstGeom prst="rect">
            <a:avLst/>
          </a:prstGeom>
          <a:solidFill>
            <a:srgbClr val="E07B39"/>
          </a:solidFill>
          <a:ln/>
        </p:spPr>
      </p:sp>
      <p:sp>
        <p:nvSpPr>
          <p:cNvPr id="39" name="Text 37"/>
          <p:cNvSpPr/>
          <p:nvPr/>
        </p:nvSpPr>
        <p:spPr>
          <a:xfrm>
            <a:off x="2048256" y="399592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±2σ  95%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3108960" y="4005072"/>
            <a:ext cx="182880" cy="146304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41" name="Text 39"/>
          <p:cNvSpPr/>
          <p:nvPr/>
        </p:nvSpPr>
        <p:spPr>
          <a:xfrm>
            <a:off x="3328416" y="399592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±3σ  99.7%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548640" y="4251960"/>
            <a:ext cx="182880" cy="36576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43" name="Text 41"/>
          <p:cNvSpPr/>
          <p:nvPr/>
        </p:nvSpPr>
        <p:spPr>
          <a:xfrm>
            <a:off x="768096" y="4215384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μ 中心线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1920240" y="4251960"/>
            <a:ext cx="182880" cy="36576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45" name="Text 43"/>
          <p:cNvSpPr/>
          <p:nvPr/>
        </p:nvSpPr>
        <p:spPr>
          <a:xfrm>
            <a:off x="2139696" y="4215384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UCL/LCL 控制限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3291840" y="4251960"/>
            <a:ext cx="182880" cy="36576"/>
          </a:xfrm>
          <a:prstGeom prst="rect">
            <a:avLst/>
          </a:prstGeom>
          <a:solidFill>
            <a:srgbClr val="8E44AD"/>
          </a:solidFill>
          <a:ln/>
        </p:spPr>
      </p:sp>
      <p:sp>
        <p:nvSpPr>
          <p:cNvPr id="47" name="Text 45"/>
          <p:cNvSpPr/>
          <p:nvPr/>
        </p:nvSpPr>
        <p:spPr>
          <a:xfrm>
            <a:off x="3511296" y="4215384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USL/LSL 规格限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4937760" y="960120"/>
            <a:ext cx="393192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9" name="Text 47"/>
          <p:cNvSpPr/>
          <p:nvPr/>
        </p:nvSpPr>
        <p:spPr>
          <a:xfrm>
            <a:off x="5120640" y="10058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68 - 95 - 99.7 法则</a:t>
            </a:r>
            <a:endParaRPr lang="en-US" sz="1400" dirty="0"/>
          </a:p>
        </p:txBody>
      </p:sp>
      <p:sp>
        <p:nvSpPr>
          <p:cNvPr id="50" name="Shape 48"/>
          <p:cNvSpPr/>
          <p:nvPr/>
        </p:nvSpPr>
        <p:spPr>
          <a:xfrm>
            <a:off x="5120640" y="1463040"/>
            <a:ext cx="3566160" cy="64008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5120640" y="1463040"/>
            <a:ext cx="2424989" cy="640080"/>
          </a:xfrm>
          <a:prstGeom prst="rect">
            <a:avLst/>
          </a:prstGeom>
          <a:solidFill>
            <a:srgbClr val="10B981">
              <a:alpha val="8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120640" y="1463040"/>
            <a:ext cx="594360" cy="64008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53" name="Text 51"/>
          <p:cNvSpPr/>
          <p:nvPr/>
        </p:nvSpPr>
        <p:spPr>
          <a:xfrm>
            <a:off x="5120640" y="1463040"/>
            <a:ext cx="594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±1σ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5852160" y="150876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68.27%</a:t>
            </a:r>
            <a:endParaRPr lang="en-US" sz="1800" dirty="0"/>
          </a:p>
        </p:txBody>
      </p:sp>
      <p:sp>
        <p:nvSpPr>
          <p:cNvPr id="55" name="Text 53"/>
          <p:cNvSpPr/>
          <p:nvPr/>
        </p:nvSpPr>
        <p:spPr>
          <a:xfrm>
            <a:off x="5852160" y="181051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区间内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7406640" y="16002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区间外: 31.73%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5120640" y="2240280"/>
            <a:ext cx="3566160" cy="64008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5120640" y="2240280"/>
            <a:ext cx="3387852" cy="640080"/>
          </a:xfrm>
          <a:prstGeom prst="rect">
            <a:avLst/>
          </a:prstGeom>
          <a:solidFill>
            <a:srgbClr val="F59E0B">
              <a:alpha val="8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5120640" y="2240280"/>
            <a:ext cx="594360" cy="6400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60" name="Text 58"/>
          <p:cNvSpPr/>
          <p:nvPr/>
        </p:nvSpPr>
        <p:spPr>
          <a:xfrm>
            <a:off x="5120640" y="2240280"/>
            <a:ext cx="594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±2σ</a:t>
            </a:r>
            <a:endParaRPr lang="en-US" sz="1200" dirty="0"/>
          </a:p>
        </p:txBody>
      </p:sp>
      <p:sp>
        <p:nvSpPr>
          <p:cNvPr id="61" name="Text 59"/>
          <p:cNvSpPr/>
          <p:nvPr/>
        </p:nvSpPr>
        <p:spPr>
          <a:xfrm>
            <a:off x="5852160" y="228600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95.45%</a:t>
            </a:r>
            <a:endParaRPr lang="en-US" sz="1800" dirty="0"/>
          </a:p>
        </p:txBody>
      </p:sp>
      <p:sp>
        <p:nvSpPr>
          <p:cNvPr id="62" name="Text 60"/>
          <p:cNvSpPr/>
          <p:nvPr/>
        </p:nvSpPr>
        <p:spPr>
          <a:xfrm>
            <a:off x="5852160" y="258775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区间内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7406640" y="23774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区间外: 4.55%</a:t>
            </a:r>
            <a:endParaRPr lang="en-US" sz="1100" dirty="0"/>
          </a:p>
        </p:txBody>
      </p:sp>
      <p:sp>
        <p:nvSpPr>
          <p:cNvPr id="64" name="Shape 62"/>
          <p:cNvSpPr/>
          <p:nvPr/>
        </p:nvSpPr>
        <p:spPr>
          <a:xfrm>
            <a:off x="5120640" y="3017520"/>
            <a:ext cx="3566160" cy="64008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5120640" y="3017520"/>
            <a:ext cx="3566160" cy="640080"/>
          </a:xfrm>
          <a:prstGeom prst="rect">
            <a:avLst/>
          </a:prstGeom>
          <a:solidFill>
            <a:srgbClr val="0891B2">
              <a:alpha val="80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5120640" y="3017520"/>
            <a:ext cx="594360" cy="64008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67" name="Text 65"/>
          <p:cNvSpPr/>
          <p:nvPr/>
        </p:nvSpPr>
        <p:spPr>
          <a:xfrm>
            <a:off x="5120640" y="3017520"/>
            <a:ext cx="594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±3σ</a:t>
            </a:r>
            <a:endParaRPr lang="en-US" sz="1200" dirty="0"/>
          </a:p>
        </p:txBody>
      </p:sp>
      <p:sp>
        <p:nvSpPr>
          <p:cNvPr id="68" name="Text 66"/>
          <p:cNvSpPr/>
          <p:nvPr/>
        </p:nvSpPr>
        <p:spPr>
          <a:xfrm>
            <a:off x="5852160" y="30632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891B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99.73%</a:t>
            </a:r>
            <a:endParaRPr lang="en-US" sz="1800" dirty="0"/>
          </a:p>
        </p:txBody>
      </p:sp>
      <p:sp>
        <p:nvSpPr>
          <p:cNvPr id="69" name="Text 67"/>
          <p:cNvSpPr/>
          <p:nvPr/>
        </p:nvSpPr>
        <p:spPr>
          <a:xfrm>
            <a:off x="5852160" y="336499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区间内</a:t>
            </a:r>
            <a:endParaRPr lang="en-US" sz="900" dirty="0"/>
          </a:p>
        </p:txBody>
      </p:sp>
      <p:sp>
        <p:nvSpPr>
          <p:cNvPr id="70" name="Text 68"/>
          <p:cNvSpPr/>
          <p:nvPr/>
        </p:nvSpPr>
        <p:spPr>
          <a:xfrm>
            <a:off x="7406640" y="31546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区间外: 0.27%</a:t>
            </a:r>
            <a:endParaRPr lang="en-US" sz="1100" dirty="0"/>
          </a:p>
        </p:txBody>
      </p:sp>
      <p:sp>
        <p:nvSpPr>
          <p:cNvPr id="71" name="Shape 69"/>
          <p:cNvSpPr/>
          <p:nvPr/>
        </p:nvSpPr>
        <p:spPr>
          <a:xfrm>
            <a:off x="274320" y="3886200"/>
            <a:ext cx="8595360" cy="5029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72" name="Text 70"/>
          <p:cNvSpPr/>
          <p:nvPr/>
        </p:nvSpPr>
        <p:spPr>
          <a:xfrm>
            <a:off x="365760" y="388620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几乎所有正常产品（99.73%）都落在 μ ± 3σ 范围内，超出即视为异常波动</a:t>
            </a:r>
            <a:endParaRPr lang="en-US" sz="1300" dirty="0"/>
          </a:p>
        </p:txBody>
      </p:sp>
      <p:sp>
        <p:nvSpPr>
          <p:cNvPr id="73" name="Text 71"/>
          <p:cNvSpPr/>
          <p:nvPr/>
        </p:nvSpPr>
        <p:spPr>
          <a:xfrm>
            <a:off x="274320" y="4462272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注：正态分布数据在自然界和工业生产中极为常见，如零件尺寸、温度、重量等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 σ 的直观理解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1005840"/>
            <a:ext cx="201168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005840"/>
            <a:ext cx="2011680" cy="64008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109728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σ = 0.001mm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20040" y="16916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11480" y="205740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尺寸波动极小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精度极高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02920" y="2743200"/>
            <a:ext cx="1645920" cy="347472"/>
          </a:xfrm>
          <a:prstGeom prst="rect">
            <a:avLst/>
          </a:prstGeom>
          <a:solidFill>
            <a:srgbClr val="10B981">
              <a:alpha val="85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274320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专业测量仪器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468880" y="1005840"/>
            <a:ext cx="201168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468880" y="1005840"/>
            <a:ext cx="2011680" cy="64008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3" name="Text 11"/>
          <p:cNvSpPr/>
          <p:nvPr/>
        </p:nvSpPr>
        <p:spPr>
          <a:xfrm>
            <a:off x="2468880" y="109728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σ = 0.005mm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468880" y="16916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2560320" y="205740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波动较小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精密制造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651760" y="2743200"/>
            <a:ext cx="1645920" cy="347472"/>
          </a:xfrm>
          <a:prstGeom prst="rect">
            <a:avLst/>
          </a:prstGeom>
          <a:solidFill>
            <a:srgbClr val="0891B2">
              <a:alpha val="85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651760" y="274320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891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MIM优质工艺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617720" y="1005840"/>
            <a:ext cx="201168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617720" y="1005840"/>
            <a:ext cx="2011680" cy="6400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0" name="Text 18"/>
          <p:cNvSpPr/>
          <p:nvPr/>
        </p:nvSpPr>
        <p:spPr>
          <a:xfrm>
            <a:off x="4617720" y="109728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σ = 0.015mm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617720" y="16916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4709160" y="205740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波动较大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接近公差边缘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800600" y="2743200"/>
            <a:ext cx="1645920" cy="347472"/>
          </a:xfrm>
          <a:prstGeom prst="rect">
            <a:avLst/>
          </a:prstGeom>
          <a:solidFill>
            <a:srgbClr val="F59E0B">
              <a:alpha val="85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00600" y="274320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需关注改善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766560" y="1005840"/>
            <a:ext cx="201168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F444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766560" y="1005840"/>
            <a:ext cx="2011680" cy="64008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7" name="Text 25"/>
          <p:cNvSpPr/>
          <p:nvPr/>
        </p:nvSpPr>
        <p:spPr>
          <a:xfrm>
            <a:off x="6766560" y="109728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σ = 0.025mm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766560" y="16916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✖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6858000" y="205740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波动过大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过程失控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949440" y="2743200"/>
            <a:ext cx="1645920" cy="347472"/>
          </a:xfrm>
          <a:prstGeom prst="rect">
            <a:avLst/>
          </a:prstGeom>
          <a:solidFill>
            <a:srgbClr val="EF4444">
              <a:alpha val="85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949440" y="274320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大量超差风险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20040" y="3429000"/>
            <a:ext cx="850392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502920" y="3493008"/>
            <a:ext cx="8138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为什么控制限选 3σ？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502920" y="3913632"/>
            <a:ext cx="2651760" cy="914400"/>
          </a:xfrm>
          <a:prstGeom prst="rect">
            <a:avLst/>
          </a:prstGeom>
          <a:solidFill>
            <a:srgbClr val="EF4444">
              <a:alpha val="85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02920" y="3913632"/>
            <a:ext cx="640080" cy="91440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6" name="Text 34"/>
          <p:cNvSpPr/>
          <p:nvPr/>
        </p:nvSpPr>
        <p:spPr>
          <a:xfrm>
            <a:off x="502920" y="3913632"/>
            <a:ext cx="640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±2σ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1188720" y="395020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误报率 4.55%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1188720" y="425196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频繁误报警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生产效率低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3337560" y="3913632"/>
            <a:ext cx="2651760" cy="914400"/>
          </a:xfrm>
          <a:prstGeom prst="rect">
            <a:avLst/>
          </a:prstGeom>
          <a:solidFill>
            <a:srgbClr val="10B981">
              <a:alpha val="85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337560" y="3913632"/>
            <a:ext cx="640080" cy="9144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1" name="Text 39"/>
          <p:cNvSpPr/>
          <p:nvPr/>
        </p:nvSpPr>
        <p:spPr>
          <a:xfrm>
            <a:off x="3337560" y="3913632"/>
            <a:ext cx="640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±3σ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4023360" y="395020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误报率 0.27%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4023360" y="425196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误报少、检出强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业界黄金标准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6172200" y="3913632"/>
            <a:ext cx="2651760" cy="914400"/>
          </a:xfrm>
          <a:prstGeom prst="rect">
            <a:avLst/>
          </a:prstGeom>
          <a:solidFill>
            <a:srgbClr val="F59E0B">
              <a:alpha val="85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172200" y="3913632"/>
            <a:ext cx="640080" cy="9144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6" name="Text 44"/>
          <p:cNvSpPr/>
          <p:nvPr/>
        </p:nvSpPr>
        <p:spPr>
          <a:xfrm>
            <a:off x="6172200" y="3913632"/>
            <a:ext cx="640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±4σ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6858000" y="395020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误报率 0.006%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6858000" y="425196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对异常不敏感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漏报风险大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3337560" y="3794760"/>
            <a:ext cx="822960" cy="25603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337560" y="379476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推荐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 标准差 σ 的计算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85039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960120"/>
            <a:ext cx="91440" cy="77724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960120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计算公式：  σ = √[ Σ(xᵢ - x̄)² / (n-1) ]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760720" y="1097280"/>
            <a:ext cx="365760" cy="36576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8" name="Text 6"/>
          <p:cNvSpPr/>
          <p:nvPr/>
        </p:nvSpPr>
        <p:spPr>
          <a:xfrm>
            <a:off x="5760720" y="10972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xᵢ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623560" y="148132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第i个测量值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6537960" y="1097280"/>
            <a:ext cx="365760" cy="36576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1" name="Text 9"/>
          <p:cNvSpPr/>
          <p:nvPr/>
        </p:nvSpPr>
        <p:spPr>
          <a:xfrm>
            <a:off x="6537960" y="10972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x̄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0" y="148132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样本均值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7315200" y="1097280"/>
            <a:ext cx="365760" cy="36576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0" y="10972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178040" y="148132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样本数量 ≥ 25组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8092440" y="1097280"/>
            <a:ext cx="365760" cy="36576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7" name="Text 15"/>
          <p:cNvSpPr/>
          <p:nvPr/>
        </p:nvSpPr>
        <p:spPr>
          <a:xfrm>
            <a:off x="8092440" y="10972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n-1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955280" y="148132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贝塞尔校正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320040" y="1874520"/>
            <a:ext cx="4754880" cy="3063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0040" y="1874520"/>
            <a:ext cx="91440" cy="30632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1938528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手算步骤（MIM内孔径示例：n=5, 25组）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48640" y="2331720"/>
            <a:ext cx="329184" cy="329184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3" name="Text 21"/>
          <p:cNvSpPr/>
          <p:nvPr/>
        </p:nvSpPr>
        <p:spPr>
          <a:xfrm>
            <a:off x="548640" y="23317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005840" y="233172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收集数据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2377440" y="233172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连续采集25组×5件=125个测量值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48640" y="2990088"/>
            <a:ext cx="329184" cy="329184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7" name="Text 25"/>
          <p:cNvSpPr/>
          <p:nvPr/>
        </p:nvSpPr>
        <p:spPr>
          <a:xfrm>
            <a:off x="548640" y="29900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005840" y="2990088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计算均值 x̄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2377440" y="2990088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x̄ = (2.001+1.999+2.002+1.998+2.000)/5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= 2.000 mm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48640" y="3648456"/>
            <a:ext cx="329184" cy="329184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31" name="Text 29"/>
          <p:cNvSpPr/>
          <p:nvPr/>
        </p:nvSpPr>
        <p:spPr>
          <a:xfrm>
            <a:off x="548640" y="364845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005840" y="3648456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计算偏差平方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2377440" y="3648456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(2.001-2.000)² = 0.000001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(1.999-2.000)² = 0.000001 等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48640" y="4306824"/>
            <a:ext cx="329184" cy="329184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35" name="Text 33"/>
          <p:cNvSpPr/>
          <p:nvPr/>
        </p:nvSpPr>
        <p:spPr>
          <a:xfrm>
            <a:off x="548640" y="430682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1005840" y="4306824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求 σ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2377440" y="4306824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σ = √(偏差平方和/(n-1))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≈ 0.0016 mm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5257800" y="1874520"/>
            <a:ext cx="3566160" cy="3063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5257800" y="1874520"/>
            <a:ext cx="91440" cy="30632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0" name="Text 38"/>
          <p:cNvSpPr/>
          <p:nvPr/>
        </p:nvSpPr>
        <p:spPr>
          <a:xfrm>
            <a:off x="5486400" y="1938528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两种σ估算方法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5486400" y="2377440"/>
            <a:ext cx="3200400" cy="1143000"/>
          </a:xfrm>
          <a:prstGeom prst="rect">
            <a:avLst/>
          </a:prstGeom>
          <a:solidFill>
            <a:srgbClr val="0891B2">
              <a:alpha val="90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623560" y="242316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91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极差法（推荐日常使用）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5623560" y="269748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σ̂ = R̄ / d₂</a:t>
            </a:r>
            <a:endParaRPr lang="en-US" sz="2000" dirty="0"/>
          </a:p>
        </p:txBody>
      </p:sp>
      <p:sp>
        <p:nvSpPr>
          <p:cNvPr id="44" name="Text 42"/>
          <p:cNvSpPr/>
          <p:nvPr/>
        </p:nvSpPr>
        <p:spPr>
          <a:xfrm>
            <a:off x="5623560" y="315468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简单快速，用组内极差估算σ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5486400" y="3611880"/>
            <a:ext cx="3200400" cy="1143000"/>
          </a:xfrm>
          <a:prstGeom prst="rect">
            <a:avLst/>
          </a:prstGeom>
          <a:solidFill>
            <a:srgbClr val="2563EB">
              <a:alpha val="90000"/>
            </a:srgbClr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623560" y="36576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标准差法（适合大批量数据）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5623560" y="393192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σ̂ = S̄ / c₄</a:t>
            </a:r>
            <a:endParaRPr lang="en-US" sz="2000" dirty="0"/>
          </a:p>
        </p:txBody>
      </p:sp>
      <p:sp>
        <p:nvSpPr>
          <p:cNvPr id="48" name="Text 46"/>
          <p:cNvSpPr/>
          <p:nvPr/>
        </p:nvSpPr>
        <p:spPr>
          <a:xfrm>
            <a:off x="5623560" y="43891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更精确，使用样本标准差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5486400" y="4773168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d₂、c₄ 为常数表系数（见下页）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 控制图常数表（n=2~10）</a:t>
            </a:r>
            <a:endParaRPr lang="en-US" sz="2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3291840"/>
        </p:xfrm>
        <a:graphic>
          <a:graphicData uri="http://schemas.openxmlformats.org/drawingml/2006/table">
            <a:tbl>
              <a:tblPr/>
              <a:tblGrid>
                <a:gridCol w="731520"/>
                <a:gridCol w="1371600"/>
                <a:gridCol w="1188720"/>
                <a:gridCol w="1371600"/>
                <a:gridCol w="1645920"/>
                <a:gridCol w="192024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A₂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D₃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D₄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d₂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c₄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1.880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3.267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1.128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0.7979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1.023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2.574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1.693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0.8862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0.729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2.282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2.059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0.9213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 ★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>
                        <a:alpha val="7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0.577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>
                        <a:alpha val="7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>
                        <a:alpha val="7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2.114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>
                        <a:alpha val="7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2.326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>
                        <a:alpha val="7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0.9400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>
                        <a:alpha val="70000"/>
                      </a:srgbClr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0.483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2.004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2.534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0.9515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0.419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0.076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1.924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2.704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0.9594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0.373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0.136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1.864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2.847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0.9650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0.337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0.184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1.816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2.970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0.9693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0.308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0.223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1.777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3.078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0.9727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4434840"/>
            <a:ext cx="3840480" cy="594360"/>
          </a:xfrm>
          <a:prstGeom prst="rect">
            <a:avLst/>
          </a:prstGeom>
          <a:solidFill>
            <a:srgbClr val="0891B2">
              <a:alpha val="90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94360" y="443484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X̄图：UCL = X̄̄ + A₂×R̄    LCL = X̄̄ - A₂×R̄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4572000" y="4434840"/>
            <a:ext cx="4114800" cy="594360"/>
          </a:xfrm>
          <a:prstGeom prst="rect">
            <a:avLst/>
          </a:prstGeom>
          <a:solidFill>
            <a:srgbClr val="2563EB">
              <a:alpha val="90000"/>
            </a:srgbClr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709160" y="443484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R图：UCL = D₄×R̄    CL = R̄    LCL = D₃×R̄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 控制限 UCL / LCL 如何得来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8503920" cy="502920"/>
          </a:xfrm>
          <a:prstGeom prst="rect">
            <a:avLst/>
          </a:prstGeom>
          <a:solidFill>
            <a:srgbClr val="EF4444">
              <a:alpha val="90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960120"/>
            <a:ext cx="73152" cy="50292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96012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⚠ UCL/LCL 来自过程自身历史数据统计计算  ≠  规格公差（客户给的）  ≠  人为设定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0040" y="1600200"/>
            <a:ext cx="5029200" cy="3337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" y="164592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控制限五线位置关系图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31520" y="3383280"/>
            <a:ext cx="4389120" cy="2286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341071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891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  中心线（均值）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731520" y="2615184"/>
            <a:ext cx="4389120" cy="228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2" name="Shape 10"/>
          <p:cNvSpPr/>
          <p:nvPr/>
        </p:nvSpPr>
        <p:spPr>
          <a:xfrm>
            <a:off x="2926080" y="2340864"/>
            <a:ext cx="27432" cy="3200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3" name="Text 11"/>
          <p:cNvSpPr/>
          <p:nvPr/>
        </p:nvSpPr>
        <p:spPr>
          <a:xfrm>
            <a:off x="3017520" y="2322576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UCL = X̄̄ + A₂×R̄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" y="4151376"/>
            <a:ext cx="4389120" cy="228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5" name="Shape 13"/>
          <p:cNvSpPr/>
          <p:nvPr/>
        </p:nvSpPr>
        <p:spPr>
          <a:xfrm>
            <a:off x="2926080" y="4105656"/>
            <a:ext cx="27432" cy="3200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6" name="Text 14"/>
          <p:cNvSpPr/>
          <p:nvPr/>
        </p:nvSpPr>
        <p:spPr>
          <a:xfrm>
            <a:off x="3017520" y="4105656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LCL = X̄̄ - A₂×R̄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31520" y="2231136"/>
            <a:ext cx="4389120" cy="2286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8" name="Shape 16"/>
          <p:cNvSpPr/>
          <p:nvPr/>
        </p:nvSpPr>
        <p:spPr>
          <a:xfrm>
            <a:off x="2926080" y="1956816"/>
            <a:ext cx="27432" cy="32004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9" name="Text 17"/>
          <p:cNvSpPr/>
          <p:nvPr/>
        </p:nvSpPr>
        <p:spPr>
          <a:xfrm>
            <a:off x="3017520" y="193852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F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USL 规格上限（客户）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731520" y="4535424"/>
            <a:ext cx="4389120" cy="2286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1" name="Shape 19"/>
          <p:cNvSpPr/>
          <p:nvPr/>
        </p:nvSpPr>
        <p:spPr>
          <a:xfrm>
            <a:off x="2926080" y="4489704"/>
            <a:ext cx="27432" cy="32004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2" name="Text 20"/>
          <p:cNvSpPr/>
          <p:nvPr/>
        </p:nvSpPr>
        <p:spPr>
          <a:xfrm>
            <a:off x="3017520" y="4489704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F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LSL 规格下限（客户）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389888" y="287121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正常区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950976" y="2307946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F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异常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5486400" y="1600200"/>
            <a:ext cx="333756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5623560" y="164592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实例演算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623560" y="192024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条件：n=5, X̄̄=2.000mm, R̄=0.005mm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623560" y="2194560"/>
            <a:ext cx="3063240" cy="384048"/>
          </a:xfrm>
          <a:prstGeom prst="rect">
            <a:avLst/>
          </a:prstGeom>
          <a:solidFill>
            <a:srgbClr val="0891B2">
              <a:alpha val="85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69280" y="2194560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X̄图: UCL=2.003  LCL=1.997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623560" y="2633472"/>
            <a:ext cx="3063240" cy="384048"/>
          </a:xfrm>
          <a:prstGeom prst="rect">
            <a:avLst/>
          </a:prstGeom>
          <a:solidFill>
            <a:srgbClr val="2563EB">
              <a:alpha val="85000"/>
            </a:srgbClr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669280" y="2633472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R图: UCL=0.0106  LCL=0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486400" y="3246120"/>
            <a:ext cx="33375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5623560" y="329184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控制限 vs 规格公差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623560" y="3611880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629400" y="3611880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控制限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7635240" y="3611880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规格限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623560" y="3941064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6629400" y="3941064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891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过程数据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7635240" y="3941064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客户要求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5623560" y="4270248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含义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6629400" y="4270248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891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过程稳定？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7635240" y="4270248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产品合格？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5623560" y="4599432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6629400" y="4599432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891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查原因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7635240" y="4599432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处置产品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 控制限 vs 规格公差（必须分清）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1005840"/>
            <a:ext cx="411480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05156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位置关系示意图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1463040"/>
            <a:ext cx="3566160" cy="2377440"/>
          </a:xfrm>
          <a:prstGeom prst="rect">
            <a:avLst/>
          </a:prstGeom>
          <a:solidFill>
            <a:srgbClr val="EF4444">
              <a:alpha val="15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108960" y="150876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F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USL 规格上限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108960" y="358444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F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LSL 规格下限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914400" y="1783080"/>
            <a:ext cx="3017520" cy="1737360"/>
          </a:xfrm>
          <a:prstGeom prst="rect">
            <a:avLst/>
          </a:prstGeom>
          <a:solidFill>
            <a:srgbClr val="F59E0B">
              <a:alpha val="15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703320" y="181051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UCL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703320" y="327355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LCL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1188720" y="2148840"/>
            <a:ext cx="2468880" cy="1005840"/>
          </a:xfrm>
          <a:prstGeom prst="rect">
            <a:avLst/>
          </a:prstGeom>
          <a:solidFill>
            <a:srgbClr val="10B981">
              <a:alpha val="4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414016" y="2011680"/>
            <a:ext cx="18288" cy="128016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4" name="Text 12"/>
          <p:cNvSpPr/>
          <p:nvPr/>
        </p:nvSpPr>
        <p:spPr>
          <a:xfrm>
            <a:off x="2194560" y="182880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  μ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40080" y="3913632"/>
            <a:ext cx="1188720" cy="201168"/>
          </a:xfrm>
          <a:prstGeom prst="rect">
            <a:avLst/>
          </a:prstGeom>
          <a:solidFill>
            <a:srgbClr val="EF4444">
              <a:alpha val="40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3913632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F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规格允许区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1920240" y="3913632"/>
            <a:ext cx="1188720" cy="201168"/>
          </a:xfrm>
          <a:prstGeom prst="rect">
            <a:avLst/>
          </a:prstGeom>
          <a:solidFill>
            <a:srgbClr val="F59E0B">
              <a:alpha val="4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920240" y="3913632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控制区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3200400" y="3913632"/>
            <a:ext cx="1188720" cy="201168"/>
          </a:xfrm>
          <a:prstGeom prst="rect">
            <a:avLst/>
          </a:prstGeom>
          <a:solidFill>
            <a:srgbClr val="10B981">
              <a:alpha val="4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00400" y="3913632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稳定区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4572000" y="1005840"/>
            <a:ext cx="425196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572000" y="1005840"/>
            <a:ext cx="91440" cy="310896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3" name="Text 21"/>
          <p:cNvSpPr/>
          <p:nvPr/>
        </p:nvSpPr>
        <p:spPr>
          <a:xfrm>
            <a:off x="4800600" y="107899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891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两句核心话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4800600" y="1554480"/>
            <a:ext cx="3840480" cy="11887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25" name="Shape 23"/>
          <p:cNvSpPr/>
          <p:nvPr/>
        </p:nvSpPr>
        <p:spPr>
          <a:xfrm>
            <a:off x="4937760" y="1664208"/>
            <a:ext cx="365760" cy="36576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26" name="Text 24"/>
          <p:cNvSpPr/>
          <p:nvPr/>
        </p:nvSpPr>
        <p:spPr>
          <a:xfrm>
            <a:off x="4937760" y="16642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394960" y="164592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UCL/LCL = 过程告诉你的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USL/LSL = 客户告诉你的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394960" y="24231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两者来源不同、含义不同、用途不同！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800600" y="2834640"/>
            <a:ext cx="3840480" cy="11887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0" name="Shape 28"/>
          <p:cNvSpPr/>
          <p:nvPr/>
        </p:nvSpPr>
        <p:spPr>
          <a:xfrm>
            <a:off x="4937760" y="2944368"/>
            <a:ext cx="365760" cy="36576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31" name="Text 29"/>
          <p:cNvSpPr/>
          <p:nvPr/>
        </p:nvSpPr>
        <p:spPr>
          <a:xfrm>
            <a:off x="4937760" y="29443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5394960" y="2907792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超出控制限 → 过程异常，查原因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超出规格限 → 产品不合格，做处置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394960" y="37033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控制限是预警，规格限是判定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20040" y="4251960"/>
            <a:ext cx="850392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320040" y="4251960"/>
            <a:ext cx="1645920" cy="7315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6" name="Text 34"/>
          <p:cNvSpPr/>
          <p:nvPr/>
        </p:nvSpPr>
        <p:spPr>
          <a:xfrm>
            <a:off x="320040" y="425196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对比项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1965960" y="4251960"/>
            <a:ext cx="3429000" cy="7315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8" name="Text 36"/>
          <p:cNvSpPr/>
          <p:nvPr/>
        </p:nvSpPr>
        <p:spPr>
          <a:xfrm>
            <a:off x="1965960" y="4251960"/>
            <a:ext cx="3429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控制限 UCL/LCL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5394960" y="4251960"/>
            <a:ext cx="3429000" cy="7315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0" name="Text 38"/>
          <p:cNvSpPr/>
          <p:nvPr/>
        </p:nvSpPr>
        <p:spPr>
          <a:xfrm>
            <a:off x="5394960" y="4251960"/>
            <a:ext cx="3429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规格限 USL/LSL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 SPC 与 6σ 的关系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8503920" cy="54864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5" name="Text 3"/>
          <p:cNvSpPr/>
          <p:nvPr/>
        </p:nvSpPr>
        <p:spPr>
          <a:xfrm>
            <a:off x="411480" y="960120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SPC = 监控工具（仪表盘）    vs    6σ = 优化方法论（工程体系）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20040" y="1645920"/>
            <a:ext cx="4754880" cy="3337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" y="1691640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核心数据对比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210312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控制范围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828800" y="2176272"/>
            <a:ext cx="1097280" cy="292608"/>
          </a:xfrm>
          <a:prstGeom prst="rect">
            <a:avLst/>
          </a:prstGeom>
          <a:solidFill>
            <a:srgbClr val="0891B2">
              <a:alpha val="70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920240" y="217627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SPC ±3σ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828800" y="2487168"/>
            <a:ext cx="2194560" cy="292608"/>
          </a:xfrm>
          <a:prstGeom prst="rect">
            <a:avLst/>
          </a:prstGeom>
          <a:solidFill>
            <a:srgbClr val="1E3A5F">
              <a:alpha val="80000"/>
            </a:srgbClr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920240" y="248716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6σ ±6σ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02920" y="265176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缺陷率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828800" y="2724912"/>
            <a:ext cx="1975104" cy="292608"/>
          </a:xfrm>
          <a:prstGeom prst="rect">
            <a:avLst/>
          </a:prstGeom>
          <a:solidFill>
            <a:srgbClr val="0891B2">
              <a:alpha val="70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920240" y="272491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SPC 2,700 PPM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828800" y="3035808"/>
            <a:ext cx="2194560" cy="292608"/>
          </a:xfrm>
          <a:prstGeom prst="rect">
            <a:avLst/>
          </a:prstGeom>
          <a:solidFill>
            <a:srgbClr val="EF4444">
              <a:alpha val="80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920240" y="303580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6σ 3.4 PPM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02920" y="320040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良品率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1828800" y="3273552"/>
            <a:ext cx="2084832" cy="292608"/>
          </a:xfrm>
          <a:prstGeom prst="rect">
            <a:avLst/>
          </a:prstGeom>
          <a:solidFill>
            <a:srgbClr val="0891B2">
              <a:alpha val="70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920240" y="327355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SPC 99.73%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28800" y="3584448"/>
            <a:ext cx="2194560" cy="292608"/>
          </a:xfrm>
          <a:prstGeom prst="rect">
            <a:avLst/>
          </a:prstGeom>
          <a:solidFill>
            <a:srgbClr val="10B981">
              <a:alpha val="8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920240" y="358444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6σ 99.99966%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02920" y="374904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思维方式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28800" y="3822192"/>
            <a:ext cx="1097280" cy="292608"/>
          </a:xfrm>
          <a:prstGeom prst="rect">
            <a:avLst/>
          </a:prstGeom>
          <a:solidFill>
            <a:srgbClr val="0891B2">
              <a:alpha val="70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920240" y="382219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SPC 被动检测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1828800" y="4133088"/>
            <a:ext cx="2194560" cy="292608"/>
          </a:xfrm>
          <a:prstGeom prst="rect">
            <a:avLst/>
          </a:prstGeom>
          <a:solidFill>
            <a:srgbClr val="F59E0B">
              <a:alpha val="8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920240" y="413308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6σ 主动优化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02920" y="429768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执行角色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1828800" y="4370832"/>
            <a:ext cx="1097280" cy="292608"/>
          </a:xfrm>
          <a:prstGeom prst="rect">
            <a:avLst/>
          </a:prstGeom>
          <a:solidFill>
            <a:srgbClr val="0891B2">
              <a:alpha val="70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920240" y="437083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SPC QC/工程师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1828800" y="4681728"/>
            <a:ext cx="2194560" cy="292608"/>
          </a:xfrm>
          <a:prstGeom prst="rect">
            <a:avLst/>
          </a:prstGeom>
          <a:solidFill>
            <a:srgbClr val="2563EB">
              <a:alpha val="80000"/>
            </a:srgbClr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920240" y="468172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6σ BB/GB黑带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212080" y="1645920"/>
            <a:ext cx="3611880" cy="3337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5394960" y="1691640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DMAIC 流程（6σ改进）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5394960" y="2148840"/>
            <a:ext cx="1005840" cy="9601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394960" y="2167128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</a:t>
            </a:r>
            <a:endParaRPr lang="en-US" sz="2200" dirty="0"/>
          </a:p>
        </p:txBody>
      </p:sp>
      <p:sp>
        <p:nvSpPr>
          <p:cNvPr id="37" name="Text 35"/>
          <p:cNvSpPr/>
          <p:nvPr/>
        </p:nvSpPr>
        <p:spPr>
          <a:xfrm>
            <a:off x="5394960" y="256032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界定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394960" y="280720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Define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6355080" y="242316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5394960" y="315468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界定问题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确定客户CTQ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6537960" y="2148840"/>
            <a:ext cx="1005840" cy="9601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537960" y="2167128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</a:t>
            </a:r>
            <a:endParaRPr lang="en-US" sz="2200" dirty="0"/>
          </a:p>
        </p:txBody>
      </p:sp>
      <p:sp>
        <p:nvSpPr>
          <p:cNvPr id="43" name="Text 41"/>
          <p:cNvSpPr/>
          <p:nvPr/>
        </p:nvSpPr>
        <p:spPr>
          <a:xfrm>
            <a:off x="6537960" y="256032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测量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6537960" y="280720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7498080" y="242316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6537960" y="315468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SPC测量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收集基线数据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7680960" y="2148840"/>
            <a:ext cx="1005840" cy="9601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680960" y="2167128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</a:t>
            </a:r>
            <a:endParaRPr lang="en-US" sz="2200" dirty="0"/>
          </a:p>
        </p:txBody>
      </p:sp>
      <p:sp>
        <p:nvSpPr>
          <p:cNvPr id="49" name="Text 47"/>
          <p:cNvSpPr/>
          <p:nvPr/>
        </p:nvSpPr>
        <p:spPr>
          <a:xfrm>
            <a:off x="7680960" y="256032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分析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7680960" y="280720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Analyze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8046720" y="3081528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400" dirty="0"/>
          </a:p>
        </p:txBody>
      </p:sp>
      <p:sp>
        <p:nvSpPr>
          <p:cNvPr id="52" name="Text 50"/>
          <p:cNvSpPr/>
          <p:nvPr/>
        </p:nvSpPr>
        <p:spPr>
          <a:xfrm>
            <a:off x="7680960" y="315468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分析SPC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找出σ偏大原因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5394960" y="3337560"/>
            <a:ext cx="1005840" cy="9601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394960" y="3355848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</a:t>
            </a:r>
            <a:endParaRPr lang="en-US" sz="2200" dirty="0"/>
          </a:p>
        </p:txBody>
      </p:sp>
      <p:sp>
        <p:nvSpPr>
          <p:cNvPr id="55" name="Text 53"/>
          <p:cNvSpPr/>
          <p:nvPr/>
        </p:nvSpPr>
        <p:spPr>
          <a:xfrm>
            <a:off x="5394960" y="374904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改进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5394960" y="399592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Improve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5394960" y="434340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改进过程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降低σ波动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6537960" y="3337560"/>
            <a:ext cx="1005840" cy="9601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537960" y="3355848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</a:t>
            </a:r>
            <a:endParaRPr lang="en-US" sz="2200" dirty="0"/>
          </a:p>
        </p:txBody>
      </p:sp>
      <p:sp>
        <p:nvSpPr>
          <p:cNvPr id="60" name="Text 58"/>
          <p:cNvSpPr/>
          <p:nvPr/>
        </p:nvSpPr>
        <p:spPr>
          <a:xfrm>
            <a:off x="6537960" y="374904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控制</a:t>
            </a:r>
            <a:endParaRPr lang="en-US" sz="1100" dirty="0"/>
          </a:p>
        </p:txBody>
      </p:sp>
      <p:sp>
        <p:nvSpPr>
          <p:cNvPr id="61" name="Text 59"/>
          <p:cNvSpPr/>
          <p:nvPr/>
        </p:nvSpPr>
        <p:spPr>
          <a:xfrm>
            <a:off x="6537960" y="399592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</a:t>
            </a:r>
            <a:endParaRPr lang="en-US" sz="800" dirty="0"/>
          </a:p>
        </p:txBody>
      </p:sp>
      <p:sp>
        <p:nvSpPr>
          <p:cNvPr id="62" name="Text 60"/>
          <p:cNvSpPr/>
          <p:nvPr/>
        </p:nvSpPr>
        <p:spPr>
          <a:xfrm>
            <a:off x="6537960" y="434340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新设SPC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巩固成果</a:t>
            </a:r>
            <a:endParaRPr lang="en-US" sz="800" dirty="0"/>
          </a:p>
        </p:txBody>
      </p:sp>
      <p:sp>
        <p:nvSpPr>
          <p:cNvPr id="63" name="Shape 61"/>
          <p:cNvSpPr/>
          <p:nvPr/>
        </p:nvSpPr>
        <p:spPr>
          <a:xfrm>
            <a:off x="5394960" y="4526280"/>
            <a:ext cx="3246120" cy="347472"/>
          </a:xfrm>
          <a:prstGeom prst="rect">
            <a:avLst/>
          </a:prstGeom>
          <a:solidFill>
            <a:srgbClr val="1E3A5F">
              <a:alpha val="85000"/>
            </a:srgbClr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5394960" y="4526280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SPC 是 6σ 的基础测量工具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  MIM实战案例：内孔径控制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41148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960120"/>
            <a:ext cx="73152" cy="11887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6" name="Text 4"/>
          <p:cNvSpPr/>
          <p:nvPr/>
        </p:nvSpPr>
        <p:spPr>
          <a:xfrm>
            <a:off x="530352" y="100584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891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场景参数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30352" y="1325880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产品：MIM不锈钢零件内孔径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规格：2.000 ± 0.010 mm（USL=2.010, LSL=1.990）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子组：每小时抽取5件，共25组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0" y="960120"/>
            <a:ext cx="42519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0" y="960120"/>
            <a:ext cx="73152" cy="11887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0" name="Text 8"/>
          <p:cNvSpPr/>
          <p:nvPr/>
        </p:nvSpPr>
        <p:spPr>
          <a:xfrm>
            <a:off x="4782312" y="100584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基线数据计算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782312" y="1325880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总均值 X̄̄ = 2.0002 mm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平均极差 R̄ = 0.0050 mm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σ̂ = 0.005 / 2.326 = 0.00215 mm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" y="2286000"/>
            <a:ext cx="4114800" cy="822960"/>
          </a:xfrm>
          <a:prstGeom prst="rect">
            <a:avLst/>
          </a:prstGeom>
          <a:solidFill>
            <a:srgbClr val="0891B2">
              <a:alpha val="90000"/>
            </a:srgbClr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02920" y="233172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891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X̄ 控制图控制限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02920" y="265176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UCL = 2.003 mm    CL = 2.000 mm    LCL = 1.997 mm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0" y="2286000"/>
            <a:ext cx="4251960" cy="822960"/>
          </a:xfrm>
          <a:prstGeom prst="rect">
            <a:avLst/>
          </a:prstGeom>
          <a:solidFill>
            <a:srgbClr val="10B981">
              <a:alpha val="90000"/>
            </a:srgbClr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754880" y="233172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过程能力分析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754880" y="265176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Cpk = 0.0098 / 0.00645 ≈ 1.52  →  能力良好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20040" y="3246120"/>
            <a:ext cx="85039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02920" y="3291840"/>
            <a:ext cx="8138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Cpk 过程能力等级参照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57200" y="3703320"/>
            <a:ext cx="1965960" cy="1097280"/>
          </a:xfrm>
          <a:prstGeom prst="rect">
            <a:avLst/>
          </a:prstGeom>
          <a:solidFill>
            <a:srgbClr val="EF4444">
              <a:alpha val="85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3703320"/>
            <a:ext cx="1965960" cy="32004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370332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&lt; 1.0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57200" y="4050792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能力不足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" y="4325112"/>
            <a:ext cx="1965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立即改进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列入FMEA高风险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560320" y="3703320"/>
            <a:ext cx="1965960" cy="1097280"/>
          </a:xfrm>
          <a:prstGeom prst="rect">
            <a:avLst/>
          </a:prstGeom>
          <a:solidFill>
            <a:srgbClr val="F59E0B">
              <a:alpha val="85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560320" y="3703320"/>
            <a:ext cx="1965960" cy="3200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7" name="Text 25"/>
          <p:cNvSpPr/>
          <p:nvPr/>
        </p:nvSpPr>
        <p:spPr>
          <a:xfrm>
            <a:off x="2560320" y="370332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1.0~1.33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2560320" y="4050792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勉强合格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2560320" y="4325112"/>
            <a:ext cx="1965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需改进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提升Cp/Cpk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663440" y="3703320"/>
            <a:ext cx="1965960" cy="1097280"/>
          </a:xfrm>
          <a:prstGeom prst="rect">
            <a:avLst/>
          </a:prstGeom>
          <a:solidFill>
            <a:srgbClr val="10B981">
              <a:alpha val="85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663440" y="3703320"/>
            <a:ext cx="1965960" cy="3200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2" name="Text 30"/>
          <p:cNvSpPr/>
          <p:nvPr/>
        </p:nvSpPr>
        <p:spPr>
          <a:xfrm>
            <a:off x="4663440" y="370332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1.33~1.67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663440" y="4050792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良好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663440" y="4325112"/>
            <a:ext cx="1965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维持监控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保持当前水平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6766560" y="3703320"/>
            <a:ext cx="1965960" cy="1097280"/>
          </a:xfrm>
          <a:prstGeom prst="rect">
            <a:avLst/>
          </a:prstGeom>
          <a:solidFill>
            <a:srgbClr val="0891B2">
              <a:alpha val="85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766560" y="3703320"/>
            <a:ext cx="1965960" cy="32004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7" name="Text 35"/>
          <p:cNvSpPr/>
          <p:nvPr/>
        </p:nvSpPr>
        <p:spPr>
          <a:xfrm>
            <a:off x="6766560" y="370332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≥ 1.67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6766560" y="4050792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891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优秀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766560" y="4325112"/>
            <a:ext cx="1965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追求更高效率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可持续改进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2560320" y="3566160"/>
            <a:ext cx="640080" cy="2286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560320" y="356616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  要点速记卡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411480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960120"/>
            <a:ext cx="91440" cy="25603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02412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891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核心公式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1490472"/>
            <a:ext cx="256032" cy="256032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49047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914400" y="1444752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σ = √[Σ(xᵢ-x̄)²/(n-1)]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108960" y="1444752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计算标准差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48640" y="1901952"/>
            <a:ext cx="256032" cy="256032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190195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914400" y="1856232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σ̂ = R̄ / d₂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108960" y="1856232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极差法估算σ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48640" y="2313432"/>
            <a:ext cx="256032" cy="256032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231343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914400" y="2267712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UCL = X̄̄ + A₂×R̄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108960" y="2267712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均值图控制限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48640" y="2724912"/>
            <a:ext cx="256032" cy="256032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272491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914400" y="2679192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UCL = D₄×R̄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108960" y="2679192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极差图控制限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48640" y="3136392"/>
            <a:ext cx="256032" cy="256032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24" name="Text 22"/>
          <p:cNvSpPr/>
          <p:nvPr/>
        </p:nvSpPr>
        <p:spPr>
          <a:xfrm>
            <a:off x="548640" y="313639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914400" y="3090672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Cpk = min(USL-x̄,x̄-LSL)/3σ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108960" y="3090672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过程能力指数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572000" y="960120"/>
            <a:ext cx="425196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572000" y="960120"/>
            <a:ext cx="91440" cy="25603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9" name="Text 27"/>
          <p:cNvSpPr/>
          <p:nvPr/>
        </p:nvSpPr>
        <p:spPr>
          <a:xfrm>
            <a:off x="4800600" y="1024128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关键数字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4800600" y="1444752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68.27%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5806440" y="1444752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μ±1σ 范围内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800600" y="192024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95.45%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806440" y="192024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μ±2σ 范围内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800600" y="2395728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99.73%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5806440" y="2395728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μ±3σ 范围内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800600" y="2871216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2,700 PPM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5806440" y="2871216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3σ时缺陷率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720840" y="1444752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3.4 PPM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7726680" y="1444752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6σ时缺陷率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720840" y="192024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25组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7726680" y="192024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计算σ最少数据量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6720840" y="2395728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Cpk ≥ 1.33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7726680" y="2395728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过程能力合格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320040" y="3657600"/>
            <a:ext cx="8503920" cy="132588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45" name="Text 43"/>
          <p:cNvSpPr/>
          <p:nvPr/>
        </p:nvSpPr>
        <p:spPr>
          <a:xfrm>
            <a:off x="502920" y="373075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891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三句核心话</a:t>
            </a:r>
            <a:endParaRPr lang="en-US" sz="1400" dirty="0"/>
          </a:p>
        </p:txBody>
      </p:sp>
      <p:sp>
        <p:nvSpPr>
          <p:cNvPr id="46" name="Shape 44"/>
          <p:cNvSpPr/>
          <p:nvPr/>
        </p:nvSpPr>
        <p:spPr>
          <a:xfrm>
            <a:off x="502920" y="4142232"/>
            <a:ext cx="237744" cy="237744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47" name="Text 45"/>
          <p:cNvSpPr/>
          <p:nvPr/>
        </p:nvSpPr>
        <p:spPr>
          <a:xfrm>
            <a:off x="502920" y="414223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841248" y="4114800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σ是过程"告诉"你的，不是你设定的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502920" y="4434840"/>
            <a:ext cx="237744" cy="237744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50" name="Text 48"/>
          <p:cNvSpPr/>
          <p:nvPr/>
        </p:nvSpPr>
        <p:spPr>
          <a:xfrm>
            <a:off x="502920" y="443484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841248" y="4407408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UCL/LCL是过程告诉你的，USL/LSL是客户告诉你的，两者不能混淆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502920" y="4727448"/>
            <a:ext cx="237744" cy="237744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53" name="Text 51"/>
          <p:cNvSpPr/>
          <p:nvPr/>
        </p:nvSpPr>
        <p:spPr>
          <a:xfrm>
            <a:off x="502920" y="472744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841248" y="4700016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SPC告诉你哪里出问题，6σ告诉你如何系统解决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55448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掌握 SPC 与 3σ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2331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891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让质量管控从"凭经验"走向"用数据说话"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0" y="3063240"/>
            <a:ext cx="2743200" cy="36576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32461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94A3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57200" y="3886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MIM行业质量管理体系 · 内部培训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4297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问题咨询：质量部  |  教材版本：v2.0  |  更新日期：2026-04-25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📖  SPC 核心名词与符号解释</a:t>
            </a:r>
          </a:p>
        </p:txBody>
      </p:sp>
      <p:sp>
        <p:nvSpPr>
          <p:cNvPr id="4" name="Rectangle 3"/>
          <p:cNvSpPr/>
          <p:nvPr/>
        </p:nvSpPr>
        <p:spPr>
          <a:xfrm>
            <a:off x="182880" y="1143000"/>
            <a:ext cx="3794760" cy="758952"/>
          </a:xfrm>
          <a:prstGeom prst="rect">
            <a:avLst/>
          </a:prstGeom>
          <a:solidFill>
            <a:srgbClr val="E8F5E9"/>
          </a:solidFill>
          <a:ln w="635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179576"/>
            <a:ext cx="13716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E8B57"/>
                </a:solidFill>
              </a:defRPr>
            </a:pPr>
            <a:r>
              <a:t>Σ (Sigma/求和)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91640" y="1179576"/>
            <a:ext cx="219456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212121"/>
                </a:solidFill>
              </a:defRPr>
            </a:pPr>
            <a:r>
              <a:t>求和符号  Summation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435608"/>
            <a:ext cx="36576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212121"/>
                </a:solidFill>
              </a:defRPr>
            </a:pPr>
            <a:r>
              <a:t>📌 对一系列数值进行累加运算的符号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1673352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 i="1">
                <a:solidFill>
                  <a:srgbClr val="1E3A8A"/>
                </a:solidFill>
              </a:defRPr>
            </a:pPr>
            <a:r>
              <a:t>🔢 Σxᵢ = x₁ + x₂ + … + xₙ</a:t>
            </a:r>
          </a:p>
        </p:txBody>
      </p:sp>
      <p:sp>
        <p:nvSpPr>
          <p:cNvPr id="9" name="Rectangle 8"/>
          <p:cNvSpPr/>
          <p:nvPr/>
        </p:nvSpPr>
        <p:spPr>
          <a:xfrm>
            <a:off x="182880" y="1947672"/>
            <a:ext cx="3794760" cy="758952"/>
          </a:xfrm>
          <a:prstGeom prst="rect">
            <a:avLst/>
          </a:prstGeom>
          <a:solidFill>
            <a:srgbClr val="E8F5E9"/>
          </a:solidFill>
          <a:ln w="635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1984248"/>
            <a:ext cx="13716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E8B57"/>
                </a:solidFill>
              </a:defRPr>
            </a:pPr>
            <a:r>
              <a:t>x̄ (X-Bar)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91640" y="1984248"/>
            <a:ext cx="219456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212121"/>
                </a:solidFill>
              </a:defRPr>
            </a:pPr>
            <a:r>
              <a:t>样本均值  Sample Mean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2240280"/>
            <a:ext cx="36576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212121"/>
                </a:solidFill>
              </a:defRPr>
            </a:pPr>
            <a:r>
              <a:t>📌 单个子组内数据的平均值，反映该子组中心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" y="2478024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 i="1">
                <a:solidFill>
                  <a:srgbClr val="1E3A8A"/>
                </a:solidFill>
              </a:defRPr>
            </a:pPr>
            <a:r>
              <a:t>🔢 x̄ = Σxᵢ / 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82880" y="2752344"/>
            <a:ext cx="3794760" cy="758952"/>
          </a:xfrm>
          <a:prstGeom prst="rect">
            <a:avLst/>
          </a:prstGeom>
          <a:solidFill>
            <a:srgbClr val="E8F5E9"/>
          </a:solidFill>
          <a:ln w="635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4320" y="2788920"/>
            <a:ext cx="13716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E8B57"/>
                </a:solidFill>
              </a:defRPr>
            </a:pPr>
            <a:r>
              <a:t>X̄̄ (X-Double-Bar)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91640" y="2788920"/>
            <a:ext cx="219456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212121"/>
                </a:solidFill>
              </a:defRPr>
            </a:pPr>
            <a:r>
              <a:t>总均值  Grand Mean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" y="3044952"/>
            <a:ext cx="36576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212121"/>
                </a:solidFill>
              </a:defRPr>
            </a:pPr>
            <a:r>
              <a:t>📌 所有子组均值 x̄ 的总平均，即过程中心线 CL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" y="3282696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 i="1">
                <a:solidFill>
                  <a:srgbClr val="1E3A8A"/>
                </a:solidFill>
              </a:defRPr>
            </a:pPr>
            <a:r>
              <a:t>🔢 X̄̄ = (x̄₁ + x̄₂ + … + x̄k) / k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82880" y="3557016"/>
            <a:ext cx="3794760" cy="758952"/>
          </a:xfrm>
          <a:prstGeom prst="rect">
            <a:avLst/>
          </a:prstGeom>
          <a:solidFill>
            <a:srgbClr val="E8F5E9"/>
          </a:solidFill>
          <a:ln w="635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4320" y="3593592"/>
            <a:ext cx="13716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E8B57"/>
                </a:solidFill>
              </a:defRPr>
            </a:pPr>
            <a:r>
              <a:t>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91640" y="3593592"/>
            <a:ext cx="219456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212121"/>
                </a:solidFill>
              </a:defRPr>
            </a:pPr>
            <a:r>
              <a:t>极差  Range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" y="3849624"/>
            <a:ext cx="36576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212121"/>
                </a:solidFill>
              </a:defRPr>
            </a:pPr>
            <a:r>
              <a:t>📌 单个子组内最大值与最小值之差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4320" y="4087368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 i="1">
                <a:solidFill>
                  <a:srgbClr val="1E3A8A"/>
                </a:solidFill>
              </a:defRPr>
            </a:pPr>
            <a:r>
              <a:t>🔢 R = xₘₐₓ − xₘᵢₙ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82880" y="4361688"/>
            <a:ext cx="3794760" cy="758952"/>
          </a:xfrm>
          <a:prstGeom prst="rect">
            <a:avLst/>
          </a:prstGeom>
          <a:solidFill>
            <a:srgbClr val="E8F5E9"/>
          </a:solidFill>
          <a:ln w="635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74320" y="4398264"/>
            <a:ext cx="13716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E8B57"/>
                </a:solidFill>
              </a:defRPr>
            </a:pPr>
            <a:r>
              <a:t>R̄ (R-Bar)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91640" y="4398264"/>
            <a:ext cx="219456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212121"/>
                </a:solidFill>
              </a:defRPr>
            </a:pPr>
            <a:r>
              <a:t>平均极差  Average Range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4320" y="4654296"/>
            <a:ext cx="36576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212121"/>
                </a:solidFill>
              </a:defRPr>
            </a:pPr>
            <a:r>
              <a:t>📌 所有子组极差 R 的平均值，用于估算过程变异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4320" y="4892040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 i="1">
                <a:solidFill>
                  <a:srgbClr val="1E3A8A"/>
                </a:solidFill>
              </a:defRPr>
            </a:pPr>
            <a:r>
              <a:t>🔢 R̄ = (R₁ + R₂ + … + Rk) / k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82880" y="5166360"/>
            <a:ext cx="3794760" cy="758952"/>
          </a:xfrm>
          <a:prstGeom prst="rect">
            <a:avLst/>
          </a:prstGeom>
          <a:solidFill>
            <a:srgbClr val="E8F5E9"/>
          </a:solidFill>
          <a:ln w="635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74320" y="5202936"/>
            <a:ext cx="13716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E8B57"/>
                </a:solidFill>
              </a:defRPr>
            </a:pPr>
            <a:r>
              <a:t>σ (Sigma)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691640" y="5202936"/>
            <a:ext cx="219456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212121"/>
                </a:solidFill>
              </a:defRPr>
            </a:pPr>
            <a:r>
              <a:t>总体标准差  Population StdDev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74320" y="5458968"/>
            <a:ext cx="36576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212121"/>
                </a:solidFill>
              </a:defRPr>
            </a:pPr>
            <a:r>
              <a:t>📌 描述总体数据离散程度的参数（常用希腊字母σ）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4320" y="5696712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 i="1">
                <a:solidFill>
                  <a:srgbClr val="1E3A8A"/>
                </a:solidFill>
              </a:defRPr>
            </a:pPr>
            <a:r>
              <a:t>🔢 σ = √[ Σ(xᵢ−μ)² / N ]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069080" y="1143000"/>
            <a:ext cx="3794760" cy="758952"/>
          </a:xfrm>
          <a:prstGeom prst="rect">
            <a:avLst/>
          </a:prstGeom>
          <a:solidFill>
            <a:srgbClr val="E3F2FD"/>
          </a:solidFill>
          <a:ln w="635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160520" y="1179576"/>
            <a:ext cx="13716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E8B57"/>
                </a:solidFill>
              </a:defRPr>
            </a:pPr>
            <a:r>
              <a:t>σ̂ (Sigma Hat)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577840" y="1179576"/>
            <a:ext cx="219456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212121"/>
                </a:solidFill>
              </a:defRPr>
            </a:pPr>
            <a:r>
              <a:t>估计标准差  Estimated StdDev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60520" y="1435608"/>
            <a:ext cx="36576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212121"/>
                </a:solidFill>
              </a:defRPr>
            </a:pPr>
            <a:r>
              <a:t>📌 用样本数据估算的总体标准差（σ的估计值）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160520" y="1673352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 i="1">
                <a:solidFill>
                  <a:srgbClr val="1E3A8A"/>
                </a:solidFill>
              </a:defRPr>
            </a:pPr>
            <a:r>
              <a:t>🔢 σ̂ = R̄ / d₂   （用极差估算）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069080" y="1947672"/>
            <a:ext cx="3794760" cy="758952"/>
          </a:xfrm>
          <a:prstGeom prst="rect">
            <a:avLst/>
          </a:prstGeom>
          <a:solidFill>
            <a:srgbClr val="E3F2FD"/>
          </a:solidFill>
          <a:ln w="635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160520" y="1984248"/>
            <a:ext cx="13716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E8B57"/>
                </a:solidFill>
              </a:defRPr>
            </a:pPr>
            <a:r>
              <a:t>s (或 S)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577840" y="1984248"/>
            <a:ext cx="219456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212121"/>
                </a:solidFill>
              </a:defRPr>
            </a:pPr>
            <a:r>
              <a:t>样本标准差  Sample StdDev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160520" y="2240280"/>
            <a:ext cx="36576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212121"/>
                </a:solidFill>
              </a:defRPr>
            </a:pPr>
            <a:r>
              <a:t>📌 单个子组内用样本公式算出的标准差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160520" y="2478024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 i="1">
                <a:solidFill>
                  <a:srgbClr val="1E3A8A"/>
                </a:solidFill>
              </a:defRPr>
            </a:pPr>
            <a:r>
              <a:t>🔢 s = √[ Σ(xᵢ−x̄)² / (n−1) ]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069080" y="2752344"/>
            <a:ext cx="3794760" cy="758952"/>
          </a:xfrm>
          <a:prstGeom prst="rect">
            <a:avLst/>
          </a:prstGeom>
          <a:solidFill>
            <a:srgbClr val="E3F2FD"/>
          </a:solidFill>
          <a:ln w="635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160520" y="2788920"/>
            <a:ext cx="13716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E8B57"/>
                </a:solidFill>
              </a:defRPr>
            </a:pPr>
            <a:r>
              <a:t>S̄ (S-Bar)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577840" y="2788920"/>
            <a:ext cx="219456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212121"/>
                </a:solidFill>
              </a:defRPr>
            </a:pPr>
            <a:r>
              <a:t>平均样本标准差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160520" y="3044952"/>
            <a:ext cx="36576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212121"/>
                </a:solidFill>
              </a:defRPr>
            </a:pPr>
            <a:r>
              <a:t>📌 所有子组样本标准差 s 的平均值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160520" y="3282696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 i="1">
                <a:solidFill>
                  <a:srgbClr val="1E3A8A"/>
                </a:solidFill>
              </a:defRPr>
            </a:pPr>
            <a:r>
              <a:t>🔢 S̄ = (s₁ + s₂ + … + sₖ) / k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069080" y="3557016"/>
            <a:ext cx="3794760" cy="758952"/>
          </a:xfrm>
          <a:prstGeom prst="rect">
            <a:avLst/>
          </a:prstGeom>
          <a:solidFill>
            <a:srgbClr val="E3F2FD"/>
          </a:solidFill>
          <a:ln w="635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160520" y="3593592"/>
            <a:ext cx="13716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E8B57"/>
                </a:solidFill>
              </a:defRPr>
            </a:pPr>
            <a:r>
              <a:t>USL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577840" y="3593592"/>
            <a:ext cx="219456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212121"/>
                </a:solidFill>
              </a:defRPr>
            </a:pPr>
            <a:r>
              <a:t>规格上限  Upper Spec Limit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160520" y="3849624"/>
            <a:ext cx="36576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212121"/>
                </a:solidFill>
              </a:defRPr>
            </a:pPr>
            <a:r>
              <a:t>📌 客户/设计允许的最大值，超出即不合格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160520" y="4087368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 i="1">
                <a:solidFill>
                  <a:srgbClr val="1E3A8A"/>
                </a:solidFill>
              </a:defRPr>
            </a:pPr>
            <a:r>
              <a:t>🔢 由产品设计决定（非统计值）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069080" y="4361688"/>
            <a:ext cx="3794760" cy="758952"/>
          </a:xfrm>
          <a:prstGeom prst="rect">
            <a:avLst/>
          </a:prstGeom>
          <a:solidFill>
            <a:srgbClr val="E3F2FD"/>
          </a:solidFill>
          <a:ln w="635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160520" y="4398264"/>
            <a:ext cx="13716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E8B57"/>
                </a:solidFill>
              </a:defRPr>
            </a:pPr>
            <a:r>
              <a:t>LSL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577840" y="4398264"/>
            <a:ext cx="219456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212121"/>
                </a:solidFill>
              </a:defRPr>
            </a:pPr>
            <a:r>
              <a:t>规格下限  Lower Spec Limit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160520" y="4654296"/>
            <a:ext cx="36576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212121"/>
                </a:solidFill>
              </a:defRPr>
            </a:pPr>
            <a:r>
              <a:t>📌 客户/设计允许的最小值，低于即不合格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160520" y="4892040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 i="1">
                <a:solidFill>
                  <a:srgbClr val="1E3A8A"/>
                </a:solidFill>
              </a:defRPr>
            </a:pPr>
            <a:r>
              <a:t>🔢 由产品设计决定（非统计值）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069080" y="5166360"/>
            <a:ext cx="3794760" cy="758952"/>
          </a:xfrm>
          <a:prstGeom prst="rect">
            <a:avLst/>
          </a:prstGeom>
          <a:solidFill>
            <a:srgbClr val="E3F2FD"/>
          </a:solidFill>
          <a:ln w="635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160520" y="5202936"/>
            <a:ext cx="13716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E8B57"/>
                </a:solidFill>
              </a:defRPr>
            </a:pPr>
            <a:r>
              <a:t>UCL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577840" y="5202936"/>
            <a:ext cx="219456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212121"/>
                </a:solidFill>
              </a:defRPr>
            </a:pPr>
            <a:r>
              <a:t>上控制限  Upper Control Limit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160520" y="5458968"/>
            <a:ext cx="36576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212121"/>
                </a:solidFill>
              </a:defRPr>
            </a:pPr>
            <a:r>
              <a:t>📌 控制图预警上限；超出说明过程异常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160520" y="5696712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 i="1">
                <a:solidFill>
                  <a:srgbClr val="1E3A8A"/>
                </a:solidFill>
              </a:defRPr>
            </a:pPr>
            <a:r>
              <a:t>🔢 UCL = X̄̄ + A₂·R̄</a:t>
            </a:r>
          </a:p>
        </p:txBody>
      </p:sp>
      <p:sp>
        <p:nvSpPr>
          <p:cNvPr id="64" name="Rectangle 63"/>
          <p:cNvSpPr/>
          <p:nvPr/>
        </p:nvSpPr>
        <p:spPr>
          <a:xfrm>
            <a:off x="7955279" y="1143000"/>
            <a:ext cx="3794760" cy="758952"/>
          </a:xfrm>
          <a:prstGeom prst="rect">
            <a:avLst/>
          </a:prstGeom>
          <a:solidFill>
            <a:srgbClr val="FFF8E1"/>
          </a:solidFill>
          <a:ln w="635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8046719" y="1179576"/>
            <a:ext cx="13716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E8B57"/>
                </a:solidFill>
              </a:defRPr>
            </a:pPr>
            <a:r>
              <a:t>CL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464039" y="1179576"/>
            <a:ext cx="219456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212121"/>
                </a:solidFill>
              </a:defRPr>
            </a:pPr>
            <a:r>
              <a:t>中心线  Center Line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046719" y="1435608"/>
            <a:ext cx="36576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212121"/>
                </a:solidFill>
              </a:defRPr>
            </a:pPr>
            <a:r>
              <a:t>📌 控制图基准线，取总均值 X̄̄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046719" y="1673352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 i="1">
                <a:solidFill>
                  <a:srgbClr val="1E3A8A"/>
                </a:solidFill>
              </a:defRPr>
            </a:pPr>
            <a:r>
              <a:t>🔢 CL = X̄̄</a:t>
            </a:r>
          </a:p>
        </p:txBody>
      </p:sp>
      <p:sp>
        <p:nvSpPr>
          <p:cNvPr id="69" name="Rectangle 68"/>
          <p:cNvSpPr/>
          <p:nvPr/>
        </p:nvSpPr>
        <p:spPr>
          <a:xfrm>
            <a:off x="7955279" y="1947672"/>
            <a:ext cx="3794760" cy="758952"/>
          </a:xfrm>
          <a:prstGeom prst="rect">
            <a:avLst/>
          </a:prstGeom>
          <a:solidFill>
            <a:srgbClr val="FFF8E1"/>
          </a:solidFill>
          <a:ln w="635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8046719" y="1984248"/>
            <a:ext cx="13716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E8B57"/>
                </a:solidFill>
              </a:defRPr>
            </a:pPr>
            <a:r>
              <a:t>LCL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464039" y="1984248"/>
            <a:ext cx="219456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212121"/>
                </a:solidFill>
              </a:defRPr>
            </a:pPr>
            <a:r>
              <a:t>下控制限  Lower Control Limit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046719" y="2240280"/>
            <a:ext cx="36576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212121"/>
                </a:solidFill>
              </a:defRPr>
            </a:pPr>
            <a:r>
              <a:t>📌 控制图预警下限；低于说明过程异常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046719" y="2478024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 i="1">
                <a:solidFill>
                  <a:srgbClr val="1E3A8A"/>
                </a:solidFill>
              </a:defRPr>
            </a:pPr>
            <a:r>
              <a:t>🔢 LCL = X̄̄ − A₂·R̄</a:t>
            </a:r>
          </a:p>
        </p:txBody>
      </p:sp>
      <p:sp>
        <p:nvSpPr>
          <p:cNvPr id="74" name="Rectangle 73"/>
          <p:cNvSpPr/>
          <p:nvPr/>
        </p:nvSpPr>
        <p:spPr>
          <a:xfrm>
            <a:off x="7955279" y="2752344"/>
            <a:ext cx="3794760" cy="758952"/>
          </a:xfrm>
          <a:prstGeom prst="rect">
            <a:avLst/>
          </a:prstGeom>
          <a:solidFill>
            <a:srgbClr val="FFF8E1"/>
          </a:solidFill>
          <a:ln w="635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8046719" y="2788920"/>
            <a:ext cx="13716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E8B57"/>
                </a:solidFill>
              </a:defRPr>
            </a:pPr>
            <a:r>
              <a:t>Cp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9464039" y="2788920"/>
            <a:ext cx="219456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212121"/>
                </a:solidFill>
              </a:defRPr>
            </a:pPr>
            <a:r>
              <a:t>过程能力指数  Process Capability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046719" y="3044952"/>
            <a:ext cx="36576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212121"/>
                </a:solidFill>
              </a:defRPr>
            </a:pPr>
            <a:r>
              <a:t>📌 衡量过程潜在能力（假设均值无偏移）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8046719" y="3282696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 i="1">
                <a:solidFill>
                  <a:srgbClr val="1E3A8A"/>
                </a:solidFill>
              </a:defRPr>
            </a:pPr>
            <a:r>
              <a:t>🔢 Cp = (USL − LSL) / (6σ̂)</a:t>
            </a:r>
          </a:p>
        </p:txBody>
      </p:sp>
      <p:sp>
        <p:nvSpPr>
          <p:cNvPr id="79" name="Rectangle 78"/>
          <p:cNvSpPr/>
          <p:nvPr/>
        </p:nvSpPr>
        <p:spPr>
          <a:xfrm>
            <a:off x="7955279" y="3557016"/>
            <a:ext cx="3794760" cy="758952"/>
          </a:xfrm>
          <a:prstGeom prst="rect">
            <a:avLst/>
          </a:prstGeom>
          <a:solidFill>
            <a:srgbClr val="FFF8E1"/>
          </a:solidFill>
          <a:ln w="635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8046719" y="3593592"/>
            <a:ext cx="13716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E8B57"/>
                </a:solidFill>
              </a:defRPr>
            </a:pPr>
            <a:r>
              <a:t>Cpk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464039" y="3593592"/>
            <a:ext cx="219456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212121"/>
                </a:solidFill>
              </a:defRPr>
            </a:pPr>
            <a:r>
              <a:t>实际过程能力指数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046719" y="3849624"/>
            <a:ext cx="36576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212121"/>
                </a:solidFill>
              </a:defRPr>
            </a:pPr>
            <a:r>
              <a:t>📌 衡量过程实际能力（考虑均值偏移）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8046719" y="4087368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 i="1">
                <a:solidFill>
                  <a:srgbClr val="1E3A8A"/>
                </a:solidFill>
              </a:defRPr>
            </a:pPr>
            <a:r>
              <a:t>🔢 Cpk = min[(USL−μ)/3σ̂ , (μ−LSL)/3σ̂]</a:t>
            </a:r>
          </a:p>
        </p:txBody>
      </p:sp>
      <p:sp>
        <p:nvSpPr>
          <p:cNvPr id="84" name="Rectangle 83"/>
          <p:cNvSpPr/>
          <p:nvPr/>
        </p:nvSpPr>
        <p:spPr>
          <a:xfrm>
            <a:off x="7955279" y="4361688"/>
            <a:ext cx="3794760" cy="758952"/>
          </a:xfrm>
          <a:prstGeom prst="rect">
            <a:avLst/>
          </a:prstGeom>
          <a:solidFill>
            <a:srgbClr val="FFF8E1"/>
          </a:solidFill>
          <a:ln w="635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8046719" y="4398264"/>
            <a:ext cx="13716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E8B57"/>
                </a:solidFill>
              </a:defRPr>
            </a:pPr>
            <a:r>
              <a:t>3σ 原理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9464039" y="4398264"/>
            <a:ext cx="219456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212121"/>
                </a:solidFill>
              </a:defRPr>
            </a:pPr>
            <a:r>
              <a:t>三西格玛法则  Three-Sigma Rule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046719" y="4654296"/>
            <a:ext cx="36576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212121"/>
                </a:solidFill>
              </a:defRPr>
            </a:pPr>
            <a:r>
              <a:t>📌 正态分布中 99.73% 的数据落在均值 ±3σ 内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8046719" y="4892040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 i="1">
                <a:solidFill>
                  <a:srgbClr val="1E3A8A"/>
                </a:solidFill>
              </a:defRPr>
            </a:pPr>
            <a:r>
              <a:t>🔢 P(μ ± 3σ) = 99.73%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SPC统计过程控制与3σ原理培训</dc:title>
  <dc:subject>PptxGenJS Presentation</dc:subject>
  <dc:creator>WorkBuddy</dc:creator>
  <cp:lastModifiedBy>WorkBuddy</cp:lastModifiedBy>
  <cp:revision>1</cp:revision>
  <dcterms:created xsi:type="dcterms:W3CDTF">2026-04-25T02:33:03Z</dcterms:created>
  <dcterms:modified xsi:type="dcterms:W3CDTF">2026-04-25T02:33:03Z</dcterms:modified>
</cp:coreProperties>
</file>