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5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15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统计过程控制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3σ 原理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MIM行业质量管理体系 · 内部培训教材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生产部门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质量部门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工程部门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正态分布与3σ原理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68-95-99.7法则、σ概念、直观理解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标准差σ的计算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公式推导、极差法/标准差法、常数表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UCL/LCL控制限由来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公式、常数表、控制限vs规格限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SPC与6σ的关系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DMAIC流程、两者的分工与协作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MIM实战案例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内孔径控制、过程能力Cpk分析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657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要点速记卡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核心公式、关键数字速记、实战口诀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培训时长约 60 分钟  |  前置知识：基础数学（均值、平方根概念）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📖  SPC 核心名词与符号解释（1/2）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521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1704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求和符号  Summation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8132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对一系列数值进行累加运算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4708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Σxᵢ = x₁ + x₂ + … + xₙ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097280"/>
            <a:ext cx="3794760" cy="1325880"/>
          </a:xfrm>
          <a:prstGeom prst="rect">
            <a:avLst/>
          </a:prstGeom>
          <a:solidFill>
            <a:srgbClr val="E3F2FD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1521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x̄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1704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样本均值  Sample 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48132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单个子组内数据的平均值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84708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x̄ = Σxᵢ / 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09728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1521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X̄̄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1704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总均值  Grand Mean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48132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所有子组均值的总平均（即CL中心线）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84708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X̄̄ = (x̄₁ + x̄₂ + … + x̄k) / 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560320"/>
            <a:ext cx="3794760" cy="1325880"/>
          </a:xfrm>
          <a:prstGeom prst="rect">
            <a:avLst/>
          </a:prstGeom>
          <a:solidFill>
            <a:srgbClr val="E3F2FD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26151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6334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极差 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94436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子组内最大值与最小值之差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31012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R = xₘₐₓ − xₘᵢₙ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256032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06240" y="26151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R̄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26334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平均极差  Avg Range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94436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所有子组极差 R 的平均值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31012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R̄ = (R₁ + R₂ + … + Rk) / 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256032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26151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6334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总体标准差  Population StdDev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294436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描述总体数据离散程度的参数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31012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σ = √[ Σ(xᵢ−μ)² / N 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406908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41239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σ̂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估计标准差  Estimated Sigma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45312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用样本数据估算的总体标准差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81888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σ̂ = R̄/d₂   或   σ̂ = S̄/c₄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06908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06240" y="41239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s / S̄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样本标准差 / 平均样本标准差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445312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样本公式算出的标准差及其跨子组均值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81888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S̄ = (s₁ + s₂ + … + sₖ) / 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4069080"/>
            <a:ext cx="3794760" cy="1325880"/>
          </a:xfrm>
          <a:prstGeom prst="rect">
            <a:avLst/>
          </a:prstGeom>
          <a:solidFill>
            <a:srgbClr val="E3F2FD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80" y="41239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USL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规格上限  Upper Spec Limit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445312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客户/设计允许的最大值，超出即不合格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80" y="481888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由产品设计决定（非统计计算值）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📖  SPC 核心名词与符号解释（2/2）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521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LSL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1704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规格下限  Lower Spec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8132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客户/设计允许的最小值，低于即不合格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4708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由产品设计决定（非统计计算值）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097280"/>
            <a:ext cx="3794760" cy="1325880"/>
          </a:xfrm>
          <a:prstGeom prst="rect">
            <a:avLst/>
          </a:prstGeom>
          <a:solidFill>
            <a:srgbClr val="E3F2FD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1521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UCL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1704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上控制限  Upper Control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48132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控制图预警上限；超出说明过程异常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84708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UCL = X̄̄ + A₂·R̄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09728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1521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1704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中心线  Center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48132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控制图基准线，取所有子组的总均值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84708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CL = X̄̄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560320"/>
            <a:ext cx="3794760" cy="1325880"/>
          </a:xfrm>
          <a:prstGeom prst="rect">
            <a:avLst/>
          </a:prstGeom>
          <a:solidFill>
            <a:srgbClr val="E3F2FD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26151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LCL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6334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下控制限  Lower Control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94436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控制图预警下限；低于说明过程异常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31012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LCL = X̄̄ − A₂·R̄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256032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06240" y="26151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26334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过程能力指数  Process Capability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94436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衡量过程潜在能力（假设均值无偏移）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31012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Cp = (USL − LSL) / (6σ̂)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256032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26151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Cpk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6334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实际过程能力指数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294436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衡量过程实际能力（考虑均值偏移）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31012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Cpk = min[(USL−μ)/3σ̂ , (μ−LSL)/3σ̂]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406908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41239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Pp / Ppk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过程性能指数  Process 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45312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用长期总体数据计算（使用总体标准差）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81888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Pp = (USL − LSL) / (6σₜₒₜₐₗ)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06908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06240" y="41239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3σ原理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三西格玛法则  Three-Sigma Rule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4453128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📌 正态分布中 99.73% 的数据落在均值 ±3σ 范围内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81888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🔢 P(μ ± 3σ) = 99.73%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正态分布与3σ原理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480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正态分布柱状图与五线关系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0936" y="3427903"/>
            <a:ext cx="256032" cy="92537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3298351"/>
            <a:ext cx="256032" cy="22208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3057754"/>
            <a:ext cx="256032" cy="46268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687604"/>
            <a:ext cx="256032" cy="8328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1368" y="2261933"/>
            <a:ext cx="256032" cy="1258507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3976" y="1947306"/>
            <a:ext cx="256032" cy="157313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86584" y="1669694"/>
            <a:ext cx="256032" cy="185074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9192" y="1947306"/>
            <a:ext cx="256032" cy="157313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2261933"/>
            <a:ext cx="256032" cy="1258507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2687604"/>
            <a:ext cx="256032" cy="8328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7016" y="3057754"/>
            <a:ext cx="256032" cy="46268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9624" y="3298351"/>
            <a:ext cx="256032" cy="22208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2232" y="3427903"/>
            <a:ext cx="256032" cy="92537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" y="1417320"/>
            <a:ext cx="27432" cy="21031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规格下限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330452" y="1417320"/>
            <a:ext cx="27432" cy="2103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4128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μ-3σ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00884" y="1417320"/>
            <a:ext cx="27432" cy="2103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Shape 24"/>
          <p:cNvSpPr/>
          <p:nvPr/>
        </p:nvSpPr>
        <p:spPr>
          <a:xfrm>
            <a:off x="2350008" y="1325880"/>
            <a:ext cx="329184" cy="329184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/>
          <p:nvPr/>
        </p:nvSpPr>
        <p:spPr>
          <a:xfrm>
            <a:off x="2350008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148840" y="16733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中心线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71316" y="1417320"/>
            <a:ext cx="27432" cy="2103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64992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μ+3σ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56532" y="1417320"/>
            <a:ext cx="27432" cy="21031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3" name="Text 31"/>
          <p:cNvSpPr/>
          <p:nvPr/>
        </p:nvSpPr>
        <p:spPr>
          <a:xfrm>
            <a:off x="3950208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50208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规格上限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3520440"/>
            <a:ext cx="4023360" cy="228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005072"/>
            <a:ext cx="182880" cy="14630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±1σ  68%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0" y="4005072"/>
            <a:ext cx="182880" cy="14630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9" name="Text 37"/>
          <p:cNvSpPr/>
          <p:nvPr/>
        </p:nvSpPr>
        <p:spPr>
          <a:xfrm>
            <a:off x="204825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±2σ  95%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08960" y="4005072"/>
            <a:ext cx="182880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332841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±3σ  99.7%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4251960"/>
            <a:ext cx="182880" cy="3657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3" name="Text 41"/>
          <p:cNvSpPr/>
          <p:nvPr/>
        </p:nvSpPr>
        <p:spPr>
          <a:xfrm>
            <a:off x="7680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 中心线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920240" y="4251960"/>
            <a:ext cx="18288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/>
          <p:nvPr/>
        </p:nvSpPr>
        <p:spPr>
          <a:xfrm>
            <a:off x="21396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 控制限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4251960"/>
            <a:ext cx="182880" cy="36576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7" name="Text 45"/>
          <p:cNvSpPr/>
          <p:nvPr/>
        </p:nvSpPr>
        <p:spPr>
          <a:xfrm>
            <a:off x="35112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USL/LSL 规格限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937760" y="96012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12064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68 - 95 - 99.7 法则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20640" y="146304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0640" y="1463040"/>
            <a:ext cx="2424989" cy="6400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20640" y="1463040"/>
            <a:ext cx="5943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5120640" y="14630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±1σ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8521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68.27%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852160" y="1810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0664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31.73%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120640" y="224028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0" y="2240280"/>
            <a:ext cx="3387852" cy="6400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20640" y="2240280"/>
            <a:ext cx="5943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5120640" y="22402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±2σ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8521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95.45%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852160" y="2587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0664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4.55%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120640" y="301752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20640" y="3017520"/>
            <a:ext cx="3566160" cy="64008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20640" y="3017520"/>
            <a:ext cx="59436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7" name="Text 65"/>
          <p:cNvSpPr/>
          <p:nvPr/>
        </p:nvSpPr>
        <p:spPr>
          <a:xfrm>
            <a:off x="5120640" y="30175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±3σ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85216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99.73%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5852160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40664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0.27%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74320" y="3886200"/>
            <a:ext cx="85953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3886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几乎所有正常产品（99.73%）都落在 μ ± 3σ 范围内，超出即视为异常波动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274320" y="44622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注：正态分布数据在自然界和工业生产中极为常见，如零件尺寸、温度、重量等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σ 的直观理解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0.001mm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尺寸波动极小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精度极高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1645920" cy="347472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专业测量仪器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05840"/>
            <a:ext cx="20116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0.005mm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2743200"/>
            <a:ext cx="1645920" cy="347472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MIM优质工艺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05840"/>
            <a:ext cx="20116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0.015mm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916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接近公差边缘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743200"/>
            <a:ext cx="1645920" cy="34747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需关注改善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1005840"/>
            <a:ext cx="201168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0.025mm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5800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波动过大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过程失控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2743200"/>
            <a:ext cx="1645920" cy="347472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大量超差风险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429000"/>
            <a:ext cx="8503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4930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为什么控制限选 3σ？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" y="3913632"/>
            <a:ext cx="2651760" cy="91440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913632"/>
            <a:ext cx="640080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±2σ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4.55%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频繁误报警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生产效率低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3913632"/>
            <a:ext cx="2651760" cy="91440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3913632"/>
            <a:ext cx="64008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±3σ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02336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0.27%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误报少、检出强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业界黄金标准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3913632"/>
            <a:ext cx="2651760" cy="9144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3913632"/>
            <a:ext cx="64008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617220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±4σ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5800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0.006%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5800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对异常不敏感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漏报风险大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37560" y="3794760"/>
            <a:ext cx="8229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3794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标准差 σ 的计算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计算公式：  σ = √[ Σ(xᵢ - x̄)² / (n-1) 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第i个测量值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3796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样本均值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样本数量 ≥ 25组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9244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贝塞尔校正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1874520"/>
            <a:ext cx="4754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874520"/>
            <a:ext cx="91440" cy="3063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19385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手算步骤（MIM内孔径示例：n=5, 25组）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33172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2331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收集数据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连续采集25组×5件=125个测量值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99008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2990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计算均值 x̄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29900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= (2.001+1.999+2.002+1.998+2.000)/5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= 2.000 mm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64845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36484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计算偏差平方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77440" y="364845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(2.001-2.000)² = 0.000001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(1.999-2.000)² = 0.000001 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30682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3068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 σ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77440" y="43068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√(偏差平方和/(n-1))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≈ 0.0016 mm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57800" y="1874520"/>
            <a:ext cx="35661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57800" y="1874520"/>
            <a:ext cx="91440" cy="3063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0" y="1938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两种σ估算方法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0" y="2377440"/>
            <a:ext cx="3200400" cy="114300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极差法（推荐日常使用）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2356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σ̂ = R̄ / d₂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62356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简单快速，用组内极差估算σ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3611880"/>
            <a:ext cx="3200400" cy="114300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标准差法（适合大批量数据）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2356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σ̂ = S̄ / c₄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62356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更精确，使用样本标准差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0" y="4773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d₂、c₄ 为常数表系数（见下页）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控制图常数表（n=2~10）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0.9594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3840480" cy="59436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34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X̄图：UCL = X̄̄ + A₂×R̄    LCL = X̄̄ - A₂×R̄</a:t>
            </a:r>
            <a:endParaRPr lang="en-US" sz="1200" dirty="0"/>
          </a:p>
        </p:txBody>
      </p:sp>
      <p:sp>
        <p:nvSpPr>
          <p:cNvPr id="4" name="Shape 4"/>
          <p:cNvSpPr/>
          <p:nvPr/>
        </p:nvSpPr>
        <p:spPr>
          <a:xfrm>
            <a:off x="4572000" y="4434840"/>
            <a:ext cx="4114800" cy="59436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4434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R图：UCL = D₄×R̄    CL = R̄    LCL = D₃×R̄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控制限 UCL / LCL 如何得来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UCL/LCL 来自过程自身历史数据统计计算  ≠  规格公差（客户给的）  ≠  人为设定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5029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控制限五线位置关系图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43891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10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  中心线（均值）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615184"/>
            <a:ext cx="4389120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2340864"/>
            <a:ext cx="2743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322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X̄̄ + A₂×R̄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151376"/>
            <a:ext cx="4389120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4105656"/>
            <a:ext cx="2743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41056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 = X̄̄ - A₂×R̄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231136"/>
            <a:ext cx="4389120" cy="228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1956816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 规格上限（客户）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535424"/>
            <a:ext cx="4389120" cy="228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0" y="4489704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4489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LSL 规格下限（客户）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89888" y="28712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0976" y="230794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0" y="1600200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23560" y="1645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实例演算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1920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条件：n=5, X̄̄=2.000mm, R̄=0.005mm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2194560"/>
            <a:ext cx="3063240" cy="384048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1945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X̄图: UCL=2.003  LCL=1.997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23560" y="2633472"/>
            <a:ext cx="3063240" cy="384048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6334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R图: UCL=0.0106  LCL=0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3246120"/>
            <a:ext cx="3337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23560" y="32918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 vs 规格公差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940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3524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规格限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2356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2940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过程数据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3524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客户要求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2356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2940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过程稳定？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3524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产品合格？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2356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查原因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3524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处置产品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控制限 vs 规格公差（必须分清）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位置关系示意图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566160" cy="23774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 规格上限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0" y="3584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LSL 规格下限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3017520" cy="17373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810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03320" y="32735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2148840"/>
            <a:ext cx="2468880" cy="100584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14016" y="2011680"/>
            <a:ext cx="18288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  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188720" cy="201168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规格允许区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20240" y="3913632"/>
            <a:ext cx="1188720" cy="20116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控制区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3913632"/>
            <a:ext cx="1188720" cy="20116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稳定区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251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05840"/>
            <a:ext cx="91440" cy="3108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两句核心话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00600" y="1554480"/>
            <a:ext cx="3840480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166420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 = 过程告诉你的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USL/LSL = 客户告诉你的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两者来源不同、含义不同、用途不同！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834640"/>
            <a:ext cx="38404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294436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29077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超出控制限 → 过程异常，查原因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超出规格限 → 产品不合格，做处置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控制限是预警，规格限是判定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251960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251960"/>
            <a:ext cx="164592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251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对比项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965960" y="4251960"/>
            <a:ext cx="3429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1965960" y="4251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 UCL/LCL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94960" y="4251960"/>
            <a:ext cx="34290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4251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规格限 USL/LSL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SPC 与 6σ 的关系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= 监控工具（仪表盘）    vs    6σ = 优化方法论（工程体系）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7548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916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核心数据对比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控制范围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17627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±3σ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487168"/>
            <a:ext cx="2194560" cy="292608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±6σ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724912"/>
            <a:ext cx="1975104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2,700 PPM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3035808"/>
            <a:ext cx="2194560" cy="29260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035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3.4 PPM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良品率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273552"/>
            <a:ext cx="2084832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32735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99.73%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584448"/>
            <a:ext cx="2194560" cy="29260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584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99.99966%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思维方式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382219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被动检测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0" y="4133088"/>
            <a:ext cx="2194560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41330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主动优化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执行角色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0" y="437083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4370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QC/工程师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4681728"/>
            <a:ext cx="2194560" cy="292608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4681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BB/GB黑带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0" y="1645920"/>
            <a:ext cx="36118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94960" y="1691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 流程（6σ改进）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0" y="2148840"/>
            <a:ext cx="100584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94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界定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55080" y="2423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94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界定问题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确定客户CTQ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37960" y="2148840"/>
            <a:ext cx="10058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537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37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2423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37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SPC测量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收集基线数据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80960" y="2148840"/>
            <a:ext cx="100584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680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80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46720" y="3081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680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分析SPC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找出σ偏大原因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394960" y="3337560"/>
            <a:ext cx="100584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0" y="3355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394960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394960" y="3995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9496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改进过程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降低σ波动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537960" y="3337560"/>
            <a:ext cx="10058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3355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537960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37960" y="3995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3796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新设SPC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巩固成果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94960" y="4526280"/>
            <a:ext cx="3246120" cy="347472"/>
          </a:xfrm>
          <a:prstGeom prst="rect">
            <a:avLst/>
          </a:prstGeom>
          <a:solidFill>
            <a:srgbClr val="1E3A5F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0" y="4526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是 6σ 的基础测量工具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MIM实战案例：内孔径控制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场景参数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产品：MIM不锈钢零件内孔径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规格：2.000 ± 0.010 mm（USL=2.010, LSL=1.990）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子组：每小时抽取5件，共25组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731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基线数据计算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82312" y="1325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总均值 X̄̄ = 2.0002 mm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平均极差 R̄ = 0.0050 mm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σ̂ = 0.005 / 2.326 = 0.00215 mm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114800" cy="82296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31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控制图控制限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UCL = 2.003 mm    CL = 2.000 mm    LCL = 1.997 mm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4251960" cy="82296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Cpk = 0.0098 / 0.00645 ≈ 1.52  →  能力良好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918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Cpk 过程能力等级参照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965960" cy="109728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03320"/>
            <a:ext cx="196596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能力不足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立即改进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列入FMEA高风险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3703320"/>
            <a:ext cx="1965960" cy="10972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3703320"/>
            <a:ext cx="19659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1.0~1.33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勉强合格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需改进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提升Cp/Cpk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1965960" cy="109728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703320"/>
            <a:ext cx="19659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1.33~1.67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维持监控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保持当前水平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3703320"/>
            <a:ext cx="1965960" cy="109728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3703320"/>
            <a:ext cx="196596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1.67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6656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追求更高效率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可持续改进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0" y="3566160"/>
            <a:ext cx="64008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3566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要点速记卡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2560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49047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90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√[Σ(xᵢ-x̄)²/(n-1)]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4447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计算标准差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0195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8562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σ̂ = R̄ / d₂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856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极差法估算σ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1343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26771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X̄̄ + A₂×R̄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2267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均值图控制限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2491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6791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D₄×R̄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26791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极差图控制限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13639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0906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Cpk = min(USL-x̄,x̄-LSL)/3σ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30906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过程能力指数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960120"/>
            <a:ext cx="4251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960120"/>
            <a:ext cx="91440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关键数字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0060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68.27%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06440" y="1444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μ±1σ 范围内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μ±2σ 范围内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395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99.73%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06440" y="2395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μ±3σ 范围内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8712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2,700 PPM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06440" y="28712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3σ时缺陷率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 PPM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26680" y="1444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6σ时缺陷率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25组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2668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计算σ最少数据量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2395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Cpk ≥ 1.33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26680" y="2395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过程能力合格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657600"/>
            <a:ext cx="8503920" cy="1325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三句核心话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" y="4142232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" y="41148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σ是过程"告诉"你的，不是你设定的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920" y="4434840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4434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1248" y="44074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UCL/LCL是过程告诉你的，USL/LSL是客户告诉你的，两者不能混淆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" y="4727448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4727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" y="47000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SPC告诉你哪里出问题，6σ告诉你如何系统解决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SPC 与 3σ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让质量管控从"凭经验"走向"用数据说话"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MIM行业质量管理体系 · 内部培训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问题咨询：质量部  |  教材版本：v2.0  |  更新日期：2026-04-25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1419</Words>
  <Application>Microsoft Office PowerPoint</Application>
  <PresentationFormat>全屏显示(16:9)</PresentationFormat>
  <Paragraphs>445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Microsoft YaHei</vt:lpstr>
      <vt:lpstr>Arial</vt:lpstr>
      <vt:lpstr>Arial Black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SPC统计过程控制与3σ原理培训</dc:title>
  <dc:subject>PptxGenJS Presentation</dc:subject>
  <dc:creator>WorkBuddy</dc:creator>
  <cp:lastModifiedBy>Windows 用户</cp:lastModifiedBy>
  <cp:revision>2</cp:revision>
  <dcterms:created xsi:type="dcterms:W3CDTF">2026-04-25T02:33:03Z</dcterms:created>
  <dcterms:modified xsi:type="dcterms:W3CDTF">2026-05-07T01:12:10Z</dcterms:modified>
</cp:coreProperties>
</file>