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6" r:id="rId29"/>
    <p:sldId id="287" r:id="rId3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186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2867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ISO 9001:2015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质量管理体系入门培训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Quality Management System Fundamentals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培训目标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理解ISO 9001:2015的基本概念和核心要求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5544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掌握七项质量管理原则的内涵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21031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了解PDCA循环在质量管理中的应用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26517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认识组织环境和风险思维的重要性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32004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能够在工作中运用质量管理理念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1887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什么是ISO 9001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669280" y="11887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七项质量管理原则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1031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PDCA循环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0" y="21031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组织环境与风险思维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30175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质量管理体系结构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0" y="30175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文件化要求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0116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3200400" y="23774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什么是ISO 9001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ISO是什么？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ISO = 国际标准化组织 (International Organization for Standardization)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5544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成立于1947年，总部在瑞士日内瓦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21031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由167个国家标准机构组成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26517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ISO 9000系列是最著名的质量管理标准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32004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中国是ISO正式成员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ISO 9001发展历程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1987年 ISO 9001首次发布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6002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2000年 重大改版（八项原则）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2194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2008年 小修订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2015年 重大改版（七项原则+高阶结构）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33832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全球超过170万个组织获得认证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2015版重大变化（一）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高阶结构（HLS）：与其他管理体系标准统一框架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737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风险思维：从预防为主到基于风险的思维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2377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领导力：强调高层领导的作用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2015版重大变化（二）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组织环境：理解内外部环境因素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737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知识管理：组织知识成为资源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2377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过程方法：PDCA循环贯穿始终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0116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3200400" y="23774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七项质量管理原则</a:t>
            </a:r>
            <a:endParaRPr lang="en-US" sz="3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原则1：以顾客为关注焦点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首要目标：满足顾客要求，超越顾客期望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关键行动：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理解顾客当前和未来需求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确保目标与顾客需求一致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测量顾客满意度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原则2：领导作用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核心：各级领导建立统一的宗旨和方向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关键行动：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设定愿景和战略方向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创造并保持内部环境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表彰员工贡献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原则3：全员积极参与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理念：各级人员都是组织之本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关键行动：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理解自身贡献的重要性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识别制约条件并消除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评估个人绩效并改进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原则4：过程方法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核心：将活动作为相互关联的过程管理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关键行动：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确定所需的过程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规定过程的职责和权限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监测、分析并改进过程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原则5：改进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理念：持续改进是组织的永恒目标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改进类型：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突破性改进（创新）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渐进式改进（日常优化）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通过PDCA循环实现持续改进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原则6：循证决策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理念：基于数据和信息的决策更有效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决策步骤：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收集相关数据和信息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分析和评价数据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基于证据做出决策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原则7：关系管理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理念：管理与相关方的关系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主要相关方：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顾客、供应商、员工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股东、监管机构、社区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建立互惠互利的关系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0116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3200400" y="23774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PDCA循环</a:t>
            </a:r>
            <a:endParaRPr lang="en-US" sz="3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什么是PDCA循环？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PDCA = Plan-Do-Check-Act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Plan（策划）- Do（实施）- Check（检查）- Act（处置）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由戴明博士推广，又称戴明环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持续改进的动态循环过程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ISO 9001:2015的核心方法论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PDCA循环详解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912961" y="1160969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1912961" y="1298129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- Plan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策划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912961" y="1892489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确定目标、制定计划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930481" y="1160969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4930481" y="1298129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- Do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0481" y="1892489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按计划执行、收集数据</a:t>
            </a:r>
            <a:endParaRPr lang="en-US" sz="1100" dirty="0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D5E19826-D0A4-4F72-B614-8B5C97B72DA2}"/>
              </a:ext>
            </a:extLst>
          </p:cNvPr>
          <p:cNvGrpSpPr/>
          <p:nvPr/>
        </p:nvGrpSpPr>
        <p:grpSpPr>
          <a:xfrm>
            <a:off x="1912961" y="2989769"/>
            <a:ext cx="2560320" cy="1463040"/>
            <a:chOff x="6492240" y="1097280"/>
            <a:chExt cx="2560320" cy="1463040"/>
          </a:xfrm>
        </p:grpSpPr>
        <p:sp>
          <p:nvSpPr>
            <p:cNvPr id="10" name="Shape 8"/>
            <p:cNvSpPr/>
            <p:nvPr/>
          </p:nvSpPr>
          <p:spPr>
            <a:xfrm>
              <a:off x="6492240" y="1097280"/>
              <a:ext cx="2560320" cy="1463040"/>
            </a:xfrm>
            <a:prstGeom prst="roundRect">
              <a:avLst>
                <a:gd name="adj" fmla="val 6250"/>
              </a:avLst>
            </a:prstGeom>
            <a:solidFill>
              <a:srgbClr val="CADCFC"/>
            </a:solidFill>
            <a:ln/>
          </p:spPr>
        </p:sp>
        <p:sp>
          <p:nvSpPr>
            <p:cNvPr id="11" name="Text 9"/>
            <p:cNvSpPr/>
            <p:nvPr/>
          </p:nvSpPr>
          <p:spPr>
            <a:xfrm>
              <a:off x="6492240" y="1234440"/>
              <a:ext cx="256032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1E2761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C - Check</a:t>
              </a:r>
              <a:endParaRPr lang="en-US" sz="1500" dirty="0"/>
            </a:p>
            <a:p>
              <a:pPr marL="0" indent="0" algn="ctr">
                <a:buNone/>
              </a:pPr>
              <a:r>
                <a:rPr lang="en-US" sz="1500" b="1" dirty="0">
                  <a:solidFill>
                    <a:srgbClr val="1E2761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检查</a:t>
              </a:r>
              <a:endParaRPr lang="en-US" sz="15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6492240" y="1828800"/>
              <a:ext cx="256032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E293B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监控测量、分析结果</a:t>
              </a:r>
              <a:endParaRPr lang="en-US" sz="1100" dirty="0"/>
            </a:p>
          </p:txBody>
        </p:sp>
      </p:grpSp>
      <p:sp>
        <p:nvSpPr>
          <p:cNvPr id="13" name="Shape 11"/>
          <p:cNvSpPr/>
          <p:nvPr/>
        </p:nvSpPr>
        <p:spPr>
          <a:xfrm>
            <a:off x="4930481" y="2989769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4930481" y="3126929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- Act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处置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30481" y="3721289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采取措施、持续改进</a:t>
            </a:r>
            <a:endParaRPr lang="en-US" sz="1100" dirty="0"/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562C99E1-2188-4F94-BCDF-2814D57D5A24}"/>
              </a:ext>
            </a:extLst>
          </p:cNvPr>
          <p:cNvSpPr/>
          <p:nvPr/>
        </p:nvSpPr>
        <p:spPr>
          <a:xfrm>
            <a:off x="4560854" y="1728716"/>
            <a:ext cx="282054" cy="3275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08FEAD3D-204A-487E-B7A6-E9AA8BEBE8B7}"/>
              </a:ext>
            </a:extLst>
          </p:cNvPr>
          <p:cNvSpPr/>
          <p:nvPr/>
        </p:nvSpPr>
        <p:spPr>
          <a:xfrm rot="5400000">
            <a:off x="6069614" y="2638452"/>
            <a:ext cx="282054" cy="3275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BFD72ABB-5D31-4B52-97F6-2E6959FF61F1}"/>
              </a:ext>
            </a:extLst>
          </p:cNvPr>
          <p:cNvSpPr/>
          <p:nvPr/>
        </p:nvSpPr>
        <p:spPr>
          <a:xfrm rot="16200000">
            <a:off x="3052094" y="2638452"/>
            <a:ext cx="282054" cy="3275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E3D2AB71-4023-466E-9E7A-7857E9A28929}"/>
              </a:ext>
            </a:extLst>
          </p:cNvPr>
          <p:cNvSpPr/>
          <p:nvPr/>
        </p:nvSpPr>
        <p:spPr>
          <a:xfrm rot="10800000">
            <a:off x="4560854" y="3557516"/>
            <a:ext cx="282054" cy="3275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0116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3200400" y="23774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组织环境与风险思维</a:t>
            </a:r>
            <a:endParaRPr lang="en-US" sz="3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理解组织环境（4.1）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组织应确定影响其质量管理体系的各种因素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外部环境：法律法规、市场竞争、技术进步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外部环境：经济形势、社会文化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内部环境：企业文化、资源状况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内部环境：人员能力、管理流程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理解相关方需求（4.2）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相关方：影响或受体系影响的个人或组织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主要相关方：顾客、供应商、员工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主要相关方：股东、监管机构、社区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顾客需求：产品质量、交货及时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员工需求：安全环境、培训发展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基于风险的思维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风险：不确定性对预期结果的影响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目的：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预防问题比事后纠正更有效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主动识别机遇，创造竞争优势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合理配置资源，提高管理效率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0116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3200400" y="23774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质量管理体系结构</a:t>
            </a:r>
            <a:endParaRPr lang="en-US" sz="3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高阶结构（HLS）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所有ISO管理体系标准采用统一10章结构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第4章：组织环境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第5章：领导作用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第6章：策划（风险与机遇）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7432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第7章：支持（资源、能力、沟通）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32004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第8章：运行（核心业务流程）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3657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第9章：绩效评价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41148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第10章：改进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0116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3200400" y="23774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文件化要求</a:t>
            </a:r>
            <a:endParaRPr lang="en-US" sz="3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文件化信息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必须的文件（强制性）：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质量方针（形成文件）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质量目标（形成文件）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质量管理体系范围（形成文件）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通常需要：程序文件、作业指导书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3520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通常需要：图纸、规范、检验记录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要点回顾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ISO 9001:2015是质量管理体系的国际标准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645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采用高阶结构，便于与其他体系整合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2194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七项质量管理原则是核心理念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27432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PDCA循环是持续改进的方法论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强调基于风险的思维和组织环境分析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谢谢参与！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499</Words>
  <Application>Microsoft Office PowerPoint</Application>
  <PresentationFormat>全屏显示(16:9)</PresentationFormat>
  <Paragraphs>180</Paragraphs>
  <Slides>29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4" baseType="lpstr">
      <vt:lpstr>等线</vt:lpstr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 9001:2015 质量管理体系入门培训</dc:title>
  <dc:subject>PptxGenJS Presentation</dc:subject>
  <dc:creator>ISO 9001:2015 Training</dc:creator>
  <cp:lastModifiedBy>Windows 用户</cp:lastModifiedBy>
  <cp:revision>2</cp:revision>
  <dcterms:created xsi:type="dcterms:W3CDTF">2026-04-09T06:12:12Z</dcterms:created>
  <dcterms:modified xsi:type="dcterms:W3CDTF">2026-04-09T06:15:53Z</dcterms:modified>
</cp:coreProperties>
</file>